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7F8099-EC55-B5E5-3E74-E41553FEF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2BBCE4-57C6-6398-B50E-62D748EDDF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0A95D50-A9BB-C633-DDDA-8B69FB88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C322E6-A76A-40DE-FBE1-CAFBA64FB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D6933C-A750-7AF4-5DFE-E5F18D6D2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7529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9A3D63-A579-05C5-38A7-9F8127C6CA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CA362A-C23F-34C3-AD8D-F0417D038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25BE0D-2B92-363C-0B1B-3F532665B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794501E-3645-F3B8-2052-18D318A7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9910D8-E42C-0073-98B3-97D5580EE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8049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E9AF8-85A1-162E-A920-2EA6FD7F7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CE020B3-7132-B020-197D-1515D5E1A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19652EF-EF3D-D168-F3E6-E066A1E8F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DDF810-B260-DC85-8ADE-074FB99485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E5F9136-80A1-8C14-A045-F8EA098C8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513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ADD9F4-9541-20B0-F70C-E0289616C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D28A4C-73A0-1EE3-00B4-019E139458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5B47B17-2372-83E4-2293-D3C37353B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417688A-AA18-8C9E-CFEB-7FAF23F81B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D893678-0DFE-BE9C-16DD-D4291B9F77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125E3F1-DC3E-16ED-7422-6C28D0923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4929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7297FB-BC55-FD77-FFDB-B586D94A3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0C18AA6-1E06-B047-B5C5-10B559ECD3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22AF4B3-863B-384D-A569-48F219E23A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055B768-B8E6-4F0E-E37E-CC2620ADEE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61233EC-7EAD-181B-9DE1-10C4F5603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74BBF88-5C45-1CB5-6F3B-37D85F8FE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73C73F23-D8DE-B683-94BC-6D5E2C8E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A02C1A9-B612-3688-9C88-7636BB0DE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54298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391B79-7C1D-72C2-51AD-C089E1BCA3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57A1410-8069-76AB-66B8-683CEDDBBF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67EF9DF-3738-544D-38E5-477C74388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219B129-CC83-79BB-B896-1DAE39DE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0146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E1AEF2-772F-157B-FA25-67F20BEFE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279F6DD-4C87-6935-6D56-4E5DA0E7D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C0232F-7EE9-835B-14A2-06414913B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49930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27EB1B-AC46-B1EC-5264-A03079F62B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E33C90-40A4-AAEA-A921-365BD447A8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AF0EC02-C7D4-1553-E246-8441770FA9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9CC42D8-4DE9-2183-D5B7-E19DD83A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86228F-E830-C770-0CC6-B0564075B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9FC266F-FE73-8866-AEDE-68465B015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0826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B09AFE-53E7-80DE-6FEE-EC771D7412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423A79-0D44-24FD-6430-1CC761D0FE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79B1FF7-2738-6BB1-D22F-7FF5726BE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C5EEB5-C39A-FD89-98CE-1C7D9C407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6B6676-CEA5-4B57-542B-0D5A82DF8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DC5B78E-5DF5-3670-A4CC-B403E0EF1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842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C3154-905C-B47D-093A-75D5B5B82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8C7C4FD-B37E-5323-EA9E-9F92DDBC48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8C04C0-8FF6-446D-3FB7-5B445150E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4DE632-3347-B6C0-A52D-63E98389B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66EE4C-459E-05A7-0945-FF3AA7C3A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017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D6C21B6-8CCB-C5B7-4663-F44547104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C164D72-22DC-AABE-5DDD-FC263EDA8C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8A4E081-AF71-65BF-D49D-142AFF90B7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71675D-45E5-C7B9-4834-123DE5EFBF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B6655E8-3E2A-65A4-9110-0DDEAF505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69531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C85E1D4-8DE3-D8FA-7072-254175E9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6E9CA17-D003-807D-DD67-A405A72931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A9520A-A260-8EDE-BE08-B9BE96679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751F00-FC8A-4D5C-8430-1B39F005CF54}" type="datetimeFigureOut">
              <a:rPr lang="ko-KR" altLang="en-US" smtClean="0"/>
              <a:t>2026-03-17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BABB35-9335-E709-9C3A-031BA3F572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71EEB2A-8905-EE1F-EFBC-1DE085B24A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09271A-FD6F-42E4-91E1-1D0472DB45F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99766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직사각형 62">
            <a:extLst>
              <a:ext uri="{FF2B5EF4-FFF2-40B4-BE49-F238E27FC236}">
                <a16:creationId xmlns:a16="http://schemas.microsoft.com/office/drawing/2014/main" id="{27C5D30B-ACBC-2F39-3C92-F76302FDEDC1}"/>
              </a:ext>
            </a:extLst>
          </p:cNvPr>
          <p:cNvSpPr/>
          <p:nvPr/>
        </p:nvSpPr>
        <p:spPr>
          <a:xfrm>
            <a:off x="8209595" y="2536924"/>
            <a:ext cx="3761423" cy="10388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306862F9-DA8D-4516-9C79-C42664409D87}"/>
              </a:ext>
            </a:extLst>
          </p:cNvPr>
          <p:cNvSpPr/>
          <p:nvPr/>
        </p:nvSpPr>
        <p:spPr>
          <a:xfrm>
            <a:off x="8209595" y="409367"/>
            <a:ext cx="3761423" cy="10388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B3896564-3A2C-375E-CE13-ACE65DD15367}"/>
              </a:ext>
            </a:extLst>
          </p:cNvPr>
          <p:cNvSpPr/>
          <p:nvPr/>
        </p:nvSpPr>
        <p:spPr>
          <a:xfrm>
            <a:off x="8209596" y="3578545"/>
            <a:ext cx="3761423" cy="103887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56" name="직사각형 55">
            <a:extLst>
              <a:ext uri="{FF2B5EF4-FFF2-40B4-BE49-F238E27FC236}">
                <a16:creationId xmlns:a16="http://schemas.microsoft.com/office/drawing/2014/main" id="{0C9F7A9D-BB03-C9AF-3BCA-2E7CBDECC529}"/>
              </a:ext>
            </a:extLst>
          </p:cNvPr>
          <p:cNvSpPr/>
          <p:nvPr/>
        </p:nvSpPr>
        <p:spPr>
          <a:xfrm>
            <a:off x="8209597" y="4640580"/>
            <a:ext cx="3761423" cy="2131695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200" dirty="0"/>
          </a:p>
        </p:txBody>
      </p:sp>
      <p:sp>
        <p:nvSpPr>
          <p:cNvPr id="5" name="순서도: 자기 디스크 4">
            <a:extLst>
              <a:ext uri="{FF2B5EF4-FFF2-40B4-BE49-F238E27FC236}">
                <a16:creationId xmlns:a16="http://schemas.microsoft.com/office/drawing/2014/main" id="{BC11F278-8833-F194-BBC2-8ABFA4B51856}"/>
              </a:ext>
            </a:extLst>
          </p:cNvPr>
          <p:cNvSpPr/>
          <p:nvPr/>
        </p:nvSpPr>
        <p:spPr>
          <a:xfrm>
            <a:off x="3851910" y="422910"/>
            <a:ext cx="1501140" cy="1051560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Database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4BDA091-A846-49D8-65C7-11ACB7310628}"/>
              </a:ext>
            </a:extLst>
          </p:cNvPr>
          <p:cNvSpPr/>
          <p:nvPr/>
        </p:nvSpPr>
        <p:spPr>
          <a:xfrm>
            <a:off x="571500" y="495300"/>
            <a:ext cx="1676400" cy="9067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ITS API</a:t>
            </a:r>
            <a:endParaRPr lang="ko-KR" altLang="en-US" dirty="0"/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79A6D5CC-80E1-33C8-C149-32D3704F565C}"/>
              </a:ext>
            </a:extLst>
          </p:cNvPr>
          <p:cNvCxnSpPr>
            <a:stCxn id="6" idx="3"/>
            <a:endCxn id="5" idx="2"/>
          </p:cNvCxnSpPr>
          <p:nvPr/>
        </p:nvCxnSpPr>
        <p:spPr>
          <a:xfrm>
            <a:off x="2247900" y="948690"/>
            <a:ext cx="160401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90F6141-4A95-3FD4-9154-3A5125D41607}"/>
              </a:ext>
            </a:extLst>
          </p:cNvPr>
          <p:cNvSpPr txBox="1"/>
          <p:nvPr/>
        </p:nvSpPr>
        <p:spPr>
          <a:xfrm>
            <a:off x="2375535" y="246398"/>
            <a:ext cx="233934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CCTV</a:t>
            </a:r>
            <a:r>
              <a:rPr lang="ko-KR" altLang="en-US" sz="1400" dirty="0"/>
              <a:t> 화면 </a:t>
            </a:r>
            <a:r>
              <a:rPr lang="en-US" altLang="ko-KR" sz="1400" dirty="0"/>
              <a:t>12</a:t>
            </a:r>
            <a:r>
              <a:rPr lang="ko-KR" altLang="en-US" sz="1400" dirty="0"/>
              <a:t>채널 </a:t>
            </a:r>
            <a:endParaRPr lang="en-US" altLang="ko-KR" sz="1400" dirty="0"/>
          </a:p>
          <a:p>
            <a:r>
              <a:rPr lang="ko-KR" altLang="en-US" sz="1400" dirty="0"/>
              <a:t>교차로 정보</a:t>
            </a:r>
            <a:endParaRPr lang="en-US" altLang="ko-KR" sz="1400" dirty="0"/>
          </a:p>
          <a:p>
            <a:r>
              <a:rPr lang="ko-KR" altLang="en-US" sz="1400" dirty="0"/>
              <a:t>혼잡도 등</a:t>
            </a:r>
            <a:endParaRPr lang="en-US" altLang="ko-KR" sz="1400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C3C8B34-651A-7CFF-3E12-BA48937AB857}"/>
              </a:ext>
            </a:extLst>
          </p:cNvPr>
          <p:cNvSpPr/>
          <p:nvPr/>
        </p:nvSpPr>
        <p:spPr>
          <a:xfrm>
            <a:off x="6416040" y="495300"/>
            <a:ext cx="1676400" cy="906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/>
              <a:t>교통</a:t>
            </a:r>
            <a:r>
              <a:rPr lang="en-US" altLang="ko-KR" dirty="0"/>
              <a:t>/</a:t>
            </a:r>
            <a:r>
              <a:rPr lang="ko-KR" altLang="en-US" dirty="0"/>
              <a:t>신호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29DF6B3-95ED-C8DD-9582-77A7519A2E57}"/>
              </a:ext>
            </a:extLst>
          </p:cNvPr>
          <p:cNvSpPr/>
          <p:nvPr/>
        </p:nvSpPr>
        <p:spPr>
          <a:xfrm>
            <a:off x="6416040" y="1551980"/>
            <a:ext cx="1676400" cy="906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CCTV</a:t>
            </a:r>
            <a:endParaRPr lang="ko-KR" altLang="en-US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2976308-0FFE-1291-87FF-27C40C44576E}"/>
              </a:ext>
            </a:extLst>
          </p:cNvPr>
          <p:cNvSpPr/>
          <p:nvPr/>
        </p:nvSpPr>
        <p:spPr>
          <a:xfrm>
            <a:off x="6416040" y="2608660"/>
            <a:ext cx="1676400" cy="906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대시보드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53050EA-A728-29FF-4AF2-2DBEB21FCC40}"/>
              </a:ext>
            </a:extLst>
          </p:cNvPr>
          <p:cNvSpPr/>
          <p:nvPr/>
        </p:nvSpPr>
        <p:spPr>
          <a:xfrm>
            <a:off x="6416040" y="3665340"/>
            <a:ext cx="1676400" cy="906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err="1"/>
              <a:t>설비예지보전</a:t>
            </a:r>
            <a:endParaRPr lang="ko-KR" altLang="en-US" dirty="0"/>
          </a:p>
        </p:txBody>
      </p: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FE01A02F-1E4A-5479-9220-8C07D35945BE}"/>
              </a:ext>
            </a:extLst>
          </p:cNvPr>
          <p:cNvCxnSpPr>
            <a:stCxn id="5" idx="3"/>
            <a:endCxn id="17" idx="1"/>
          </p:cNvCxnSpPr>
          <p:nvPr/>
        </p:nvCxnSpPr>
        <p:spPr>
          <a:xfrm rot="16200000" flipH="1">
            <a:off x="5243810" y="833140"/>
            <a:ext cx="530900" cy="1813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F9D1B59-B305-BA03-2FFD-E29D694EF71C}"/>
              </a:ext>
            </a:extLst>
          </p:cNvPr>
          <p:cNvSpPr txBox="1"/>
          <p:nvPr/>
        </p:nvSpPr>
        <p:spPr>
          <a:xfrm>
            <a:off x="4716780" y="2077759"/>
            <a:ext cx="2339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CCTV</a:t>
            </a:r>
            <a:r>
              <a:rPr lang="ko-KR" altLang="en-US" sz="1400" dirty="0"/>
              <a:t> 화면 </a:t>
            </a:r>
            <a:r>
              <a:rPr lang="en-US" altLang="ko-KR" sz="1400" dirty="0"/>
              <a:t>12</a:t>
            </a:r>
            <a:r>
              <a:rPr lang="ko-KR" altLang="en-US" sz="1400" dirty="0"/>
              <a:t>채널 </a:t>
            </a:r>
            <a:endParaRPr lang="en-US" altLang="ko-KR" sz="1400" dirty="0"/>
          </a:p>
          <a:p>
            <a:r>
              <a:rPr lang="ko-KR" altLang="en-US" sz="1400" dirty="0"/>
              <a:t>교차로 정보</a:t>
            </a:r>
            <a:endParaRPr lang="en-US" altLang="ko-KR" sz="1400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CF55F196-49B7-29EB-8C5C-42FA6AB6C6CB}"/>
              </a:ext>
            </a:extLst>
          </p:cNvPr>
          <p:cNvSpPr/>
          <p:nvPr/>
        </p:nvSpPr>
        <p:spPr>
          <a:xfrm>
            <a:off x="571500" y="1701880"/>
            <a:ext cx="1676400" cy="9067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예지보전</a:t>
            </a:r>
            <a:r>
              <a:rPr lang="en-US" altLang="ko-KR" dirty="0"/>
              <a:t>Dataset</a:t>
            </a:r>
            <a:endParaRPr lang="ko-KR" altLang="en-US" dirty="0"/>
          </a:p>
        </p:txBody>
      </p: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043849C2-1F58-211B-38FA-69D9D012C516}"/>
              </a:ext>
            </a:extLst>
          </p:cNvPr>
          <p:cNvCxnSpPr>
            <a:stCxn id="24" idx="3"/>
          </p:cNvCxnSpPr>
          <p:nvPr/>
        </p:nvCxnSpPr>
        <p:spPr>
          <a:xfrm flipV="1">
            <a:off x="2247900" y="985062"/>
            <a:ext cx="1604010" cy="11702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연결선: 꺾임 27">
            <a:extLst>
              <a:ext uri="{FF2B5EF4-FFF2-40B4-BE49-F238E27FC236}">
                <a16:creationId xmlns:a16="http://schemas.microsoft.com/office/drawing/2014/main" id="{BF099BD7-4AEC-375A-E733-A47E573FEA82}"/>
              </a:ext>
            </a:extLst>
          </p:cNvPr>
          <p:cNvCxnSpPr>
            <a:stCxn id="5" idx="3"/>
            <a:endCxn id="19" idx="1"/>
          </p:cNvCxnSpPr>
          <p:nvPr/>
        </p:nvCxnSpPr>
        <p:spPr>
          <a:xfrm rot="16200000" flipH="1">
            <a:off x="4187130" y="1889820"/>
            <a:ext cx="2644260" cy="1813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35796D4-9EB9-50C2-7548-283F13E33E38}"/>
              </a:ext>
            </a:extLst>
          </p:cNvPr>
          <p:cNvSpPr txBox="1"/>
          <p:nvPr/>
        </p:nvSpPr>
        <p:spPr>
          <a:xfrm>
            <a:off x="4716780" y="4203920"/>
            <a:ext cx="23393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예지보전 데이터</a:t>
            </a:r>
            <a:endParaRPr lang="en-US" altLang="ko-KR" sz="1400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0AF5E492-B681-A585-713D-8A5E4FDB1923}"/>
              </a:ext>
            </a:extLst>
          </p:cNvPr>
          <p:cNvSpPr/>
          <p:nvPr/>
        </p:nvSpPr>
        <p:spPr>
          <a:xfrm>
            <a:off x="6416040" y="4722020"/>
            <a:ext cx="1676400" cy="906780"/>
          </a:xfrm>
          <a:prstGeom prst="rect">
            <a:avLst/>
          </a:prstGeom>
          <a:ln>
            <a:solidFill>
              <a:schemeClr val="accent2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단속내역관리</a:t>
            </a:r>
          </a:p>
        </p:txBody>
      </p: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7484D5BC-0188-FB2B-859B-CDC9CEF322B6}"/>
              </a:ext>
            </a:extLst>
          </p:cNvPr>
          <p:cNvSpPr/>
          <p:nvPr/>
        </p:nvSpPr>
        <p:spPr>
          <a:xfrm>
            <a:off x="571500" y="3062050"/>
            <a:ext cx="1676400" cy="9067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단속내역관리</a:t>
            </a:r>
            <a:endParaRPr lang="en-US" altLang="ko-KR" dirty="0"/>
          </a:p>
          <a:p>
            <a:pPr algn="ctr"/>
            <a:r>
              <a:rPr lang="ko-KR" altLang="en-US" dirty="0"/>
              <a:t>과속 체크</a:t>
            </a:r>
            <a:endParaRPr lang="en-US" altLang="ko-KR" dirty="0"/>
          </a:p>
          <a:p>
            <a:pPr algn="ctr"/>
            <a:r>
              <a:rPr lang="ko-KR" altLang="en-US" dirty="0"/>
              <a:t>객체인식</a:t>
            </a:r>
            <a:r>
              <a:rPr lang="en-US" altLang="ko-KR" dirty="0"/>
              <a:t>(</a:t>
            </a:r>
            <a:r>
              <a:rPr lang="ko-KR" altLang="en-US" dirty="0"/>
              <a:t>긴급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6AB5D01B-6B15-5D7A-C559-736A2FA68228}"/>
              </a:ext>
            </a:extLst>
          </p:cNvPr>
          <p:cNvCxnSpPr>
            <a:cxnSpLocks/>
            <a:stCxn id="5" idx="3"/>
            <a:endCxn id="35" idx="3"/>
          </p:cNvCxnSpPr>
          <p:nvPr/>
        </p:nvCxnSpPr>
        <p:spPr>
          <a:xfrm flipH="1">
            <a:off x="2247900" y="1474470"/>
            <a:ext cx="2354580" cy="20409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EF0D7D5C-0C5A-24D0-0FD5-733D7BE4B4E9}"/>
              </a:ext>
            </a:extLst>
          </p:cNvPr>
          <p:cNvSpPr txBox="1"/>
          <p:nvPr/>
        </p:nvSpPr>
        <p:spPr>
          <a:xfrm>
            <a:off x="2247900" y="2494955"/>
            <a:ext cx="15601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CCTV</a:t>
            </a:r>
            <a:r>
              <a:rPr lang="ko-KR" altLang="en-US" sz="1400" dirty="0"/>
              <a:t> 화면 </a:t>
            </a:r>
            <a:r>
              <a:rPr lang="en-US" altLang="ko-KR" sz="1400" dirty="0"/>
              <a:t>1</a:t>
            </a:r>
            <a:r>
              <a:rPr lang="ko-KR" altLang="en-US" sz="1400" dirty="0"/>
              <a:t>채널</a:t>
            </a:r>
            <a:endParaRPr lang="en-US" altLang="ko-KR" sz="1400" dirty="0"/>
          </a:p>
          <a:p>
            <a:r>
              <a:rPr lang="ko-KR" altLang="en-US" sz="1400" dirty="0"/>
              <a:t>강화대교</a:t>
            </a:r>
            <a:endParaRPr lang="en-US" altLang="ko-KR" sz="1400" dirty="0"/>
          </a:p>
        </p:txBody>
      </p:sp>
      <p:sp>
        <p:nvSpPr>
          <p:cNvPr id="41" name="직사각형 40">
            <a:extLst>
              <a:ext uri="{FF2B5EF4-FFF2-40B4-BE49-F238E27FC236}">
                <a16:creationId xmlns:a16="http://schemas.microsoft.com/office/drawing/2014/main" id="{72359EDD-3970-5B87-A832-CB082F1ECF11}"/>
              </a:ext>
            </a:extLst>
          </p:cNvPr>
          <p:cNvSpPr/>
          <p:nvPr/>
        </p:nvSpPr>
        <p:spPr>
          <a:xfrm>
            <a:off x="571500" y="4268630"/>
            <a:ext cx="1676400" cy="90678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300" spc="-150" dirty="0"/>
              <a:t>랜덤 자동차 사진 선정</a:t>
            </a:r>
            <a:r>
              <a:rPr lang="ko-KR" altLang="en-US" sz="1300" dirty="0"/>
              <a:t> 번호판 인식</a:t>
            </a:r>
            <a:endParaRPr lang="en-US" altLang="ko-KR" sz="1300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3E2D2D78-4763-FD20-1F8F-77C7978A5011}"/>
              </a:ext>
            </a:extLst>
          </p:cNvPr>
          <p:cNvCxnSpPr>
            <a:stCxn id="35" idx="2"/>
            <a:endCxn id="41" idx="0"/>
          </p:cNvCxnSpPr>
          <p:nvPr/>
        </p:nvCxnSpPr>
        <p:spPr>
          <a:xfrm>
            <a:off x="1409700" y="3968830"/>
            <a:ext cx="0" cy="2998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966885C5-10FD-A4BA-ADD2-071871098B23}"/>
              </a:ext>
            </a:extLst>
          </p:cNvPr>
          <p:cNvCxnSpPr>
            <a:stCxn id="41" idx="3"/>
            <a:endCxn id="5" idx="3"/>
          </p:cNvCxnSpPr>
          <p:nvPr/>
        </p:nvCxnSpPr>
        <p:spPr>
          <a:xfrm flipV="1">
            <a:off x="2247900" y="1474470"/>
            <a:ext cx="2354580" cy="32475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E8A30F5D-1F8B-92F9-0C5C-0E870B3AC8E4}"/>
              </a:ext>
            </a:extLst>
          </p:cNvPr>
          <p:cNvSpPr txBox="1"/>
          <p:nvPr/>
        </p:nvSpPr>
        <p:spPr>
          <a:xfrm>
            <a:off x="2533650" y="3587830"/>
            <a:ext cx="15278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차량 이미지 및 번호판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endParaRPr lang="en-US" altLang="ko-KR" sz="1400" dirty="0"/>
          </a:p>
          <a:p>
            <a:r>
              <a:rPr lang="ko-KR" altLang="en-US" sz="1400" dirty="0"/>
              <a:t>과속 정보</a:t>
            </a:r>
            <a:endParaRPr lang="en-US" altLang="ko-KR" sz="1400" dirty="0"/>
          </a:p>
        </p:txBody>
      </p:sp>
      <p:cxnSp>
        <p:nvCxnSpPr>
          <p:cNvPr id="50" name="연결선: 꺾임 49">
            <a:extLst>
              <a:ext uri="{FF2B5EF4-FFF2-40B4-BE49-F238E27FC236}">
                <a16:creationId xmlns:a16="http://schemas.microsoft.com/office/drawing/2014/main" id="{63EF14B9-C9EF-ADCB-33A1-D3C7F6DA7844}"/>
              </a:ext>
            </a:extLst>
          </p:cNvPr>
          <p:cNvCxnSpPr>
            <a:stCxn id="5" idx="3"/>
            <a:endCxn id="30" idx="1"/>
          </p:cNvCxnSpPr>
          <p:nvPr/>
        </p:nvCxnSpPr>
        <p:spPr>
          <a:xfrm rot="16200000" flipH="1">
            <a:off x="3658790" y="2418160"/>
            <a:ext cx="3700940" cy="181356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6269F4BF-EA7F-93AB-1A49-D60FD5AC6D4F}"/>
              </a:ext>
            </a:extLst>
          </p:cNvPr>
          <p:cNvSpPr txBox="1"/>
          <p:nvPr/>
        </p:nvSpPr>
        <p:spPr>
          <a:xfrm>
            <a:off x="4745355" y="5247799"/>
            <a:ext cx="15278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차량 이미지 및 번호판</a:t>
            </a:r>
            <a:r>
              <a:rPr lang="en-US" altLang="ko-KR" sz="1400" dirty="0"/>
              <a:t> </a:t>
            </a:r>
            <a:r>
              <a:rPr lang="ko-KR" altLang="en-US" sz="1400" dirty="0"/>
              <a:t>정보</a:t>
            </a:r>
            <a:endParaRPr lang="en-US" altLang="ko-KR" sz="1400" dirty="0"/>
          </a:p>
          <a:p>
            <a:r>
              <a:rPr lang="ko-KR" altLang="en-US" sz="1400" dirty="0"/>
              <a:t>과속 정보</a:t>
            </a:r>
            <a:endParaRPr lang="en-US" altLang="ko-KR" sz="1400" dirty="0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BE445A5E-C43E-9860-C377-4153431E355C}"/>
              </a:ext>
            </a:extLst>
          </p:cNvPr>
          <p:cNvSpPr/>
          <p:nvPr/>
        </p:nvSpPr>
        <p:spPr>
          <a:xfrm>
            <a:off x="8328660" y="4722020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위반 차랑 상세 정보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64F7CE7E-4F21-F081-E674-CF90D8B5014A}"/>
              </a:ext>
            </a:extLst>
          </p:cNvPr>
          <p:cNvSpPr/>
          <p:nvPr/>
        </p:nvSpPr>
        <p:spPr>
          <a:xfrm>
            <a:off x="10241280" y="4722020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과속 알고리즘 카메라</a:t>
            </a:r>
            <a:r>
              <a:rPr lang="en-US" altLang="ko-KR" sz="1200" dirty="0"/>
              <a:t>(</a:t>
            </a:r>
            <a:r>
              <a:rPr lang="ko-KR" altLang="en-US" sz="1200" dirty="0"/>
              <a:t>강화대교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25378AA5-BA8C-C306-8425-0989DCA0E4CC}"/>
              </a:ext>
            </a:extLst>
          </p:cNvPr>
          <p:cNvSpPr/>
          <p:nvPr/>
        </p:nvSpPr>
        <p:spPr>
          <a:xfrm>
            <a:off x="8328660" y="5750720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과태료 승인 및 반려</a:t>
            </a:r>
          </a:p>
        </p:txBody>
      </p:sp>
      <p:sp>
        <p:nvSpPr>
          <p:cNvPr id="55" name="직사각형 54">
            <a:extLst>
              <a:ext uri="{FF2B5EF4-FFF2-40B4-BE49-F238E27FC236}">
                <a16:creationId xmlns:a16="http://schemas.microsoft.com/office/drawing/2014/main" id="{2DFF2FAC-55E8-B648-53E2-6BE207A885E4}"/>
              </a:ext>
            </a:extLst>
          </p:cNvPr>
          <p:cNvSpPr/>
          <p:nvPr/>
        </p:nvSpPr>
        <p:spPr>
          <a:xfrm>
            <a:off x="8328660" y="3654388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현재 상태 시각화</a:t>
            </a: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0F1642B6-E694-B1A8-A323-9873BBB15353}"/>
              </a:ext>
            </a:extLst>
          </p:cNvPr>
          <p:cNvSpPr/>
          <p:nvPr/>
        </p:nvSpPr>
        <p:spPr>
          <a:xfrm>
            <a:off x="10241280" y="3665340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추천 조치사항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:a16="http://schemas.microsoft.com/office/drawing/2014/main" id="{7C051A3D-55B5-A532-774D-AA01E5AEB00A}"/>
              </a:ext>
            </a:extLst>
          </p:cNvPr>
          <p:cNvSpPr/>
          <p:nvPr/>
        </p:nvSpPr>
        <p:spPr>
          <a:xfrm>
            <a:off x="8267700" y="1570166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CCTV 12</a:t>
            </a:r>
            <a:r>
              <a:rPr lang="ko-KR" altLang="en-US" sz="1200" dirty="0"/>
              <a:t>채널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F97B561F-A854-00E0-9A92-9E79ED0B6FAB}"/>
              </a:ext>
            </a:extLst>
          </p:cNvPr>
          <p:cNvSpPr/>
          <p:nvPr/>
        </p:nvSpPr>
        <p:spPr>
          <a:xfrm>
            <a:off x="8267700" y="492737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긴급차량 객체화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백엔드</a:t>
            </a:r>
            <a:r>
              <a:rPr lang="ko-KR" altLang="en-US" sz="1200" dirty="0"/>
              <a:t> 자동 생성</a:t>
            </a:r>
            <a:endParaRPr lang="en-US" altLang="ko-KR" sz="1200" dirty="0"/>
          </a:p>
          <a:p>
            <a:pPr algn="ctr"/>
            <a:r>
              <a:rPr lang="ko-KR" altLang="en-US" sz="1200" dirty="0"/>
              <a:t>수동 생성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8E0461D6-A81A-718A-16A6-CA70BDC92EB0}"/>
              </a:ext>
            </a:extLst>
          </p:cNvPr>
          <p:cNvSpPr/>
          <p:nvPr/>
        </p:nvSpPr>
        <p:spPr>
          <a:xfrm>
            <a:off x="10228895" y="495300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200" spc="20" dirty="0"/>
              <a:t>ITS </a:t>
            </a:r>
            <a:r>
              <a:rPr lang="ko-KR" altLang="en-US" sz="1200" spc="20" dirty="0"/>
              <a:t>지도</a:t>
            </a:r>
            <a:r>
              <a:rPr lang="en-US" altLang="ko-KR" sz="1200" spc="20" dirty="0"/>
              <a:t>(CCTV, </a:t>
            </a:r>
          </a:p>
          <a:p>
            <a:pPr algn="ctr"/>
            <a:r>
              <a:rPr lang="ko-KR" altLang="en-US" sz="1200" spc="20" dirty="0"/>
              <a:t>혼잡도표시</a:t>
            </a:r>
            <a:r>
              <a:rPr lang="en-US" altLang="ko-KR" sz="1200" spc="20" dirty="0"/>
              <a:t>)</a:t>
            </a:r>
            <a:br>
              <a:rPr lang="en-US" altLang="ko-KR" sz="1200" spc="20" dirty="0"/>
            </a:br>
            <a:r>
              <a:rPr lang="ko-KR" altLang="en-US" sz="1200" spc="20" dirty="0"/>
              <a:t>객체 인식 카메라</a:t>
            </a:r>
            <a:endParaRPr lang="en-US" altLang="ko-KR" sz="1200" spc="20" dirty="0"/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997B7C1A-9FEC-FFE3-9237-6FDD7E06DD30}"/>
              </a:ext>
            </a:extLst>
          </p:cNvPr>
          <p:cNvSpPr/>
          <p:nvPr/>
        </p:nvSpPr>
        <p:spPr>
          <a:xfrm>
            <a:off x="8328660" y="2610805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모든 화면 간략화</a:t>
            </a:r>
            <a:endParaRPr lang="en-US" altLang="ko-KR" sz="1200" dirty="0"/>
          </a:p>
          <a:p>
            <a:pPr algn="ctr"/>
            <a:r>
              <a:rPr lang="ko-KR" altLang="en-US" sz="1200" dirty="0"/>
              <a:t>단속내역 </a:t>
            </a:r>
            <a:r>
              <a:rPr lang="en-US" altLang="ko-KR" sz="1200" dirty="0"/>
              <a:t>/ </a:t>
            </a:r>
            <a:r>
              <a:rPr lang="ko-KR" altLang="en-US" sz="1200" dirty="0" err="1"/>
              <a:t>설비예전</a:t>
            </a:r>
            <a:endParaRPr lang="en-US" altLang="ko-KR" sz="1200" dirty="0"/>
          </a:p>
          <a:p>
            <a:pPr algn="ctr"/>
            <a:r>
              <a:rPr lang="en-US" altLang="ko-KR" sz="1200" dirty="0"/>
              <a:t>CCTV / </a:t>
            </a:r>
            <a:r>
              <a:rPr lang="ko-KR" altLang="en-US" sz="1200" dirty="0"/>
              <a:t>교통 신호</a:t>
            </a: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E06925BE-A115-B994-F7E2-AA9B50AB1A46}"/>
              </a:ext>
            </a:extLst>
          </p:cNvPr>
          <p:cNvSpPr/>
          <p:nvPr/>
        </p:nvSpPr>
        <p:spPr>
          <a:xfrm>
            <a:off x="10228895" y="2610805"/>
            <a:ext cx="1676400" cy="906780"/>
          </a:xfrm>
          <a:prstGeom prst="rect">
            <a:avLst/>
          </a:prstGeom>
          <a:ln>
            <a:solidFill>
              <a:schemeClr val="accent6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실시간 이벤트 알림</a:t>
            </a:r>
            <a:endParaRPr lang="en-US" altLang="ko-KR" sz="1200" dirty="0"/>
          </a:p>
          <a:p>
            <a:pPr algn="ctr"/>
            <a:r>
              <a:rPr lang="ko-KR" altLang="en-US" sz="1200" dirty="0"/>
              <a:t>각종 데이터</a:t>
            </a:r>
          </a:p>
        </p:txBody>
      </p:sp>
    </p:spTree>
    <p:extLst>
      <p:ext uri="{BB962C8B-B14F-4D97-AF65-F5344CB8AC3E}">
        <p14:creationId xmlns:p14="http://schemas.microsoft.com/office/powerpoint/2010/main" val="4282649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364</TotalTime>
  <Words>115</Words>
  <Application>Microsoft Office PowerPoint</Application>
  <PresentationFormat>와이드스크린</PresentationFormat>
  <Paragraphs>40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2026-03-17T02:41:14Z</dcterms:created>
  <dcterms:modified xsi:type="dcterms:W3CDTF">2026-03-17T08:45:38Z</dcterms:modified>
</cp:coreProperties>
</file>