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1618059" cy="3071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28575" cy="307181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428625"/>
            <a:ext cx="144660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KDT 선도기업과정 종로 1팀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14375" y="600075"/>
            <a:ext cx="144660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최종 발표 프로젝트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471738" y="1827014"/>
            <a:ext cx="4200525" cy="103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200" b="1" spc="8" kern="0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AI-PASS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2471738" y="3007519"/>
            <a:ext cx="4200525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spc="3" kern="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스스로 판단하는 지능형 무인 시스템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27727" y="4029075"/>
            <a:ext cx="10447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 / AI </a:t>
            </a: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배영환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527727" y="4257675"/>
            <a:ext cx="10447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/ 기획 </a:t>
            </a: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김소연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27727" y="4486275"/>
            <a:ext cx="10447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 / ML </a:t>
            </a: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하재영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팀 소개 및 역할 분담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71500" y="1575197"/>
            <a:ext cx="2476481" cy="2996803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38266" y="1860947"/>
            <a:ext cx="742950" cy="742950"/>
          </a:xfrm>
          <a:prstGeom prst="ellipse">
            <a:avLst/>
          </a:prstGeom>
          <a:solidFill>
            <a:srgbClr val="38BDF8">
              <a:alpha val="10000"/>
            </a:srgbClr>
          </a:solidFill>
          <a:ln w="18288">
            <a:solidFill>
              <a:srgbClr val="38BDF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725" y="2075259"/>
            <a:ext cx="250031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9703" y="2753916"/>
            <a:ext cx="60007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배영환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587391" y="3095030"/>
            <a:ext cx="44469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spc="1" kern="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PM / AI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024821" y="3411141"/>
            <a:ext cx="156983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총괄 기획 및 일정 관리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모델링 설계 및 통합 관제 구현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MyBatis 연동 및 스트리밍 구축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333731" y="1575197"/>
            <a:ext cx="2476509" cy="2996803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00497" y="1860947"/>
            <a:ext cx="742950" cy="742950"/>
          </a:xfrm>
          <a:prstGeom prst="ellipse">
            <a:avLst/>
          </a:prstGeom>
          <a:solidFill>
            <a:srgbClr val="38BDF8">
              <a:alpha val="10000"/>
            </a:srgbClr>
          </a:solidFill>
          <a:ln w="18288">
            <a:solidFill>
              <a:srgbClr val="38BDF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956" y="2075259"/>
            <a:ext cx="250031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71935" y="2753916"/>
            <a:ext cx="60007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김소연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304081" y="3095030"/>
            <a:ext cx="5357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spc="1" kern="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DB / 기획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3670074" y="3429000"/>
            <a:ext cx="180379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 설계(ERD) 및 구조 정의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분석 및 UX 기획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연동 아키텍처 수립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6095991" y="1575197"/>
            <a:ext cx="2476481" cy="2996803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962756" y="1860947"/>
            <a:ext cx="742950" cy="742950"/>
          </a:xfrm>
          <a:prstGeom prst="ellipse">
            <a:avLst/>
          </a:prstGeom>
          <a:solidFill>
            <a:srgbClr val="38BDF8">
              <a:alpha val="10000"/>
            </a:srgbClr>
          </a:solidFill>
          <a:ln w="18288">
            <a:solidFill>
              <a:srgbClr val="38BDF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638" y="2075259"/>
            <a:ext cx="357188" cy="285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34194" y="2753916"/>
            <a:ext cx="60007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하재영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105631" y="3095030"/>
            <a:ext cx="4572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spc="1" kern="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FE / ML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6523416" y="3411141"/>
            <a:ext cx="16216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로그인·인증·마이페이지 화면 개발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예지보전 화면 시각화 구현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프론트엔드 컴포넌트 최적화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Team Introduction &amp; Role Definition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71500" y="1338560"/>
            <a:ext cx="285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035844" y="1310878"/>
            <a:ext cx="9161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인사 &amp; 팀 소개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786313" y="1338560"/>
            <a:ext cx="285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250656" y="1310878"/>
            <a:ext cx="139303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시연 — 핵심 시나리오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1500" y="2052935"/>
            <a:ext cx="285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35844" y="2025253"/>
            <a:ext cx="17145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문제 정의 및 프로젝트 목표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86313" y="2052935"/>
            <a:ext cx="285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07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250656" y="2025253"/>
            <a:ext cx="138053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개발 이슈 &amp; 해결 과정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1500" y="2767310"/>
            <a:ext cx="285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35844" y="2739628"/>
            <a:ext cx="189309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해결 전략 — 전체 시스템 개요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86313" y="2767310"/>
            <a:ext cx="285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08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50656" y="2739628"/>
            <a:ext cx="11072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결과 및 기대 효과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1500" y="3481685"/>
            <a:ext cx="285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35844" y="3454003"/>
            <a:ext cx="180915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시스템 아키텍처 &amp; 기술 선택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86313" y="3481685"/>
            <a:ext cx="285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09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50656" y="3454003"/>
            <a:ext cx="428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마무리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71500" y="4196060"/>
            <a:ext cx="285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35844" y="4168378"/>
            <a:ext cx="5197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DB 설계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Presentation Outline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28625"/>
            <a:ext cx="84582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42900" y="641152"/>
            <a:ext cx="84582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교통 관제의 현재 문제점 (1)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342900" y="1432322"/>
            <a:ext cx="4121944" cy="3353991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EF4444">
                <a:alpha val="2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2118122" y="1632347"/>
            <a:ext cx="5715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9466" y="2232422"/>
            <a:ext cx="1928813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수동적인 단속 체계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2925" y="2784277"/>
            <a:ext cx="3721894" cy="9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위반 여부 판단부터 번호판 확인, 기록 저장까지 </a:t>
            </a: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사람의 개입이 필수적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 구조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운영 인력에 크게 의존하며 처리 속도가 느리고 감시 공백이 발생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79156" y="1432322"/>
            <a:ext cx="4121944" cy="3353991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EF4444">
                <a:alpha val="2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482953" y="1632347"/>
            <a:ext cx="51435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90022" y="2232422"/>
            <a:ext cx="1700213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분절된 관제 환경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879181" y="2784277"/>
            <a:ext cx="3721894" cy="69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CCTV, 단속 내역, 설비 관리 시스템이 </a:t>
            </a: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각각 분리되어 운영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되는 환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이상 징후 발생 시 통합적인 상황 파악과 신속한 대응이 어려움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408178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Problem Definition: Structural Limitations of Current Systems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사후 대응의 한계 및 대상 지역 선정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71500" y="1432322"/>
            <a:ext cx="3786188" cy="313967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EF4444">
                <a:alpha val="2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74316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700" y="1646634"/>
            <a:ext cx="1516261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사후 대응 중심의 관리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066330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1556" y="2037755"/>
            <a:ext cx="31218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고장 후 점검 시작: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CCTV나 신호기가 멈춘 이후에야 인지 및 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조치 시작</a:t>
            </a:r>
            <a:endParaRPr lang="en-US" sz="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574931"/>
            <a:ext cx="160734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3703" y="2546356"/>
            <a:ext cx="3089672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치명적 관제 공백: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수리 완료 전까지 해당 구간의 단속 및 상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황 파악 불가능</a:t>
            </a:r>
            <a:endParaRPr lang="en-US" sz="800" dirty="0"/>
          </a:p>
        </p:txBody>
      </p:sp>
      <p:sp>
        <p:nvSpPr>
          <p:cNvPr id="12" name="Shape 6"/>
          <p:cNvSpPr/>
          <p:nvPr/>
        </p:nvSpPr>
        <p:spPr>
          <a:xfrm>
            <a:off x="4786313" y="1432322"/>
            <a:ext cx="3786188" cy="313967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1674316"/>
            <a:ext cx="176808" cy="1571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63158" y="1646634"/>
            <a:ext cx="2132409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대상 지역: 강화도 국도 48호선</a:t>
            </a:r>
            <a:endParaRPr lang="en-US" sz="11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066330"/>
            <a:ext cx="144661" cy="1285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252442" y="2037755"/>
            <a:ext cx="310574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실제 인프라 확보: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ITS KOREA 협력을 통해 실제 CCTV 12채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널 데이터 연동</a:t>
            </a:r>
            <a:endParaRPr lang="en-US" sz="8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2574931"/>
            <a:ext cx="128588" cy="12858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236369" y="2546356"/>
            <a:ext cx="31218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검증 최적화: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단순 선형 교통 흐름으로 AI 모델의 순수 인식 성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능 검증 용이</a:t>
            </a:r>
            <a:endParaRPr lang="en-US" sz="800" dirty="0"/>
          </a:p>
        </p:txBody>
      </p:sp>
      <p:sp>
        <p:nvSpPr>
          <p:cNvPr id="19" name="Shape 10"/>
          <p:cNvSpPr/>
          <p:nvPr/>
        </p:nvSpPr>
        <p:spPr>
          <a:xfrm>
            <a:off x="5000625" y="3936206"/>
            <a:ext cx="3357563" cy="421481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20" name="Text 11"/>
          <p:cNvSpPr/>
          <p:nvPr/>
        </p:nvSpPr>
        <p:spPr>
          <a:xfrm>
            <a:off x="5000625" y="3936206"/>
            <a:ext cx="3357563" cy="421481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실제 교차로 12개소 CCTV 채널 연동 완료</a:t>
            </a:r>
            <a:endParaRPr lang="en-US" sz="1000" dirty="0"/>
          </a:p>
        </p:txBody>
      </p:sp>
      <p:sp>
        <p:nvSpPr>
          <p:cNvPr id="21" name="Text 1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Problem Definition &amp; Target Infrastructure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프로젝트 핵심 목표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1366828" y="1860947"/>
            <a:ext cx="885825" cy="885825"/>
          </a:xfrm>
          <a:prstGeom prst="ellipse">
            <a:avLst/>
          </a:prstGeom>
          <a:solidFill>
            <a:srgbClr val="38BDF8">
              <a:alpha val="10000"/>
            </a:srgbClr>
          </a:solidFill>
          <a:ln w="18288">
            <a:solidFill>
              <a:srgbClr val="38BDF8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859" y="2118122"/>
            <a:ext cx="385763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8583" y="2932509"/>
            <a:ext cx="1382316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실시간 무인 단속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71500" y="3439716"/>
            <a:ext cx="24764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기반으로 과속 및 실선 침범 차량을 자동으로 감지하고 번호판을 추출하는 지능형 단속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129060" y="1860947"/>
            <a:ext cx="885825" cy="885825"/>
          </a:xfrm>
          <a:prstGeom prst="ellipse">
            <a:avLst/>
          </a:prstGeom>
          <a:solidFill>
            <a:srgbClr val="38BDF8">
              <a:alpha val="10000"/>
            </a:srgbClr>
          </a:solidFill>
          <a:ln w="18288">
            <a:solidFill>
              <a:srgbClr val="38BDF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22" y="2118122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80814" y="2932509"/>
            <a:ext cx="1382316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통합 관제 플랫폼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333731" y="3439716"/>
            <a:ext cx="247650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단속 내역, 실시간 CCTV, 설비 상태를 단일 화면에서 파악하는 중앙 집중식 관리 체계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6891319" y="1860947"/>
            <a:ext cx="885825" cy="885825"/>
          </a:xfrm>
          <a:prstGeom prst="ellipse">
            <a:avLst/>
          </a:prstGeom>
          <a:solidFill>
            <a:srgbClr val="38BDF8">
              <a:alpha val="10000"/>
            </a:srgbClr>
          </a:solidFill>
          <a:ln w="18288">
            <a:solidFill>
              <a:srgbClr val="38BDF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81" y="2118122"/>
            <a:ext cx="342900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63612" y="2932509"/>
            <a:ext cx="134123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선제적 예지보전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095991" y="3439716"/>
            <a:ext cx="24764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AI가 설비의 남은 수명을 예측하여 장애 발생 전 선제적으로 대응하는 유지보수 시스템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Project Goals: Autonomous, Integrated, and Predictive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해결 전략: 독립 서버 구조 (MSA)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71500" y="1432322"/>
            <a:ext cx="8001000" cy="2125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역할별 독립 서버 구조 도입을 통한 시스템 안정성 및 확장성 확보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71500" y="2073473"/>
            <a:ext cx="2157413" cy="127158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3" y="2259211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2594967"/>
            <a:ext cx="18573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서버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14375" y="2859286"/>
            <a:ext cx="18573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차량 실시간 추적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교통 위반 여부 판단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2786063" y="2702123"/>
            <a:ext cx="628650" cy="14288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773" y="2630686"/>
            <a:ext cx="112514" cy="1285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486150" y="2073473"/>
            <a:ext cx="2157413" cy="127158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556" y="2259211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36169" y="2594967"/>
            <a:ext cx="18573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백엔드 서버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3636169" y="2859286"/>
            <a:ext cx="18573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위반 데이터 처리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 적재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5707856" y="2702123"/>
            <a:ext cx="635794" cy="14288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567" y="2630686"/>
            <a:ext cx="112514" cy="12858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415088" y="2073473"/>
            <a:ext cx="2157413" cy="127158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2350" y="2252067"/>
            <a:ext cx="257175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572250" y="2587823"/>
            <a:ext cx="18573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화면 서버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6572250" y="2852142"/>
            <a:ext cx="18573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통합 관제 대시보드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정보 시각화</a:t>
            </a:r>
            <a:endParaRPr lang="en-US" sz="7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773686"/>
            <a:ext cx="96441" cy="12858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75097" y="3759398"/>
            <a:ext cx="3689747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응답 속도 최적화: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고비용 AI 연산을 물리적으로 분리하여 웹 서비스의 성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능 저하를 원천 차단합니다.</a:t>
            </a:r>
            <a:endParaRPr lang="en-US" sz="8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9156" y="3773686"/>
            <a:ext cx="112514" cy="12858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898827" y="3759398"/>
            <a:ext cx="367367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유연한 확장성: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기능 확장이 필요할 때 전체 시스템 수정 없이 해당 서버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 독립적으로 고도화가 가능합니다.</a:t>
            </a:r>
            <a:endParaRPr lang="en-US" sz="850" dirty="0"/>
          </a:p>
        </p:txBody>
      </p:sp>
      <p:sp>
        <p:nvSpPr>
          <p:cNvPr id="26" name="Text 1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Solution Strategy: Microservices Architecture Overview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독립 서버 구조의 이점 및 분산 배치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71500" y="1318022"/>
            <a:ext cx="3506912" cy="921544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18022"/>
            <a:ext cx="28575" cy="9215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403747"/>
            <a:ext cx="322116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성능 최적화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14375" y="1703784"/>
            <a:ext cx="32211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고비용 AI 연산을 물리적으로 분리하여 웹 서비스의 응답 속도 저하를 원천 차단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71500" y="2325291"/>
            <a:ext cx="3506912" cy="921544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325291"/>
            <a:ext cx="28575" cy="9215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2411016"/>
            <a:ext cx="322116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유연한 확장성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4375" y="2711053"/>
            <a:ext cx="32211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기능 확장이 필요할 때 전체 시스템 중단 없이 해당 서버만 독립적으로 수정 및 배포 가능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1500" y="3332559"/>
            <a:ext cx="3506912" cy="921544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3332559"/>
            <a:ext cx="28575" cy="9215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2"/>
          <p:cNvSpPr/>
          <p:nvPr/>
        </p:nvSpPr>
        <p:spPr>
          <a:xfrm>
            <a:off x="714375" y="3418284"/>
            <a:ext cx="322116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운영 안정성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4375" y="3718322"/>
            <a:ext cx="32211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서버 장애 시에도 타 서비스에 미치는 영향을 최소화하여 관제 공백 방지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364162" y="1318022"/>
            <a:ext cx="4208338" cy="3311128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10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080" y="1468041"/>
            <a:ext cx="196453" cy="15716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15533" y="1453753"/>
            <a:ext cx="210204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시연용 4대 PC 분산 배치 현황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07037" y="1787723"/>
            <a:ext cx="1918432" cy="669727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92762" y="1873448"/>
            <a:ext cx="174698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PC #173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4592762" y="2052042"/>
            <a:ext cx="174698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FE &amp; BE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592762" y="2232422"/>
            <a:ext cx="174698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서버 및 백엔드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6511193" y="1787723"/>
            <a:ext cx="1918432" cy="669727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96918" y="1873448"/>
            <a:ext cx="174698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PC #112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6596918" y="2052042"/>
            <a:ext cx="174698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SERVER (A)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6596918" y="2232422"/>
            <a:ext cx="174698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과속 단속 전담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4507037" y="2528888"/>
            <a:ext cx="1918432" cy="669727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92762" y="2614613"/>
            <a:ext cx="174698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PC #59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4592762" y="2793206"/>
            <a:ext cx="174698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SERVER (B)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592762" y="2973586"/>
            <a:ext cx="174698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실선 침범 감지 전담</a:t>
            </a:r>
            <a:endParaRPr lang="en-US" sz="650" dirty="0"/>
          </a:p>
        </p:txBody>
      </p:sp>
      <p:sp>
        <p:nvSpPr>
          <p:cNvPr id="32" name="Shape 28"/>
          <p:cNvSpPr/>
          <p:nvPr/>
        </p:nvSpPr>
        <p:spPr>
          <a:xfrm>
            <a:off x="6511193" y="2528888"/>
            <a:ext cx="1918432" cy="669727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596918" y="2614613"/>
            <a:ext cx="174698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PC #29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6596918" y="2793206"/>
            <a:ext cx="174698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DB &amp; ML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6596918" y="2973586"/>
            <a:ext cx="174698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통합 DB 및 예지보전</a:t>
            </a:r>
            <a:endParaRPr lang="en-US" sz="650" dirty="0"/>
          </a:p>
        </p:txBody>
      </p:sp>
      <p:sp>
        <p:nvSpPr>
          <p:cNvPr id="36" name="Text 32"/>
          <p:cNvSpPr/>
          <p:nvPr/>
        </p:nvSpPr>
        <p:spPr>
          <a:xfrm>
            <a:off x="0" y="4629150"/>
            <a:ext cx="9144000" cy="514350"/>
          </a:xfrm>
          <a:prstGeom prst="rect">
            <a:avLst/>
          </a:prstGeom>
          <a:noFill/>
          <a:ln/>
        </p:spPr>
        <p:txBody>
          <a:bodyPr wrap="square" lIns="680339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Solution Strategy: Benefits of Distributed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기술 스택: FE &amp; BE Implementation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28625" y="1432322"/>
            <a:ext cx="4000500" cy="321111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621631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1544" y="1603772"/>
            <a:ext cx="84474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Front-end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1939528"/>
            <a:ext cx="3657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Vue 3 (Composition API)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00075" y="2148483"/>
            <a:ext cx="36576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컴포넌트 기반의 유연한 UI 설계 및 상태 관리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00075" y="2409230"/>
            <a:ext cx="3657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Vite &amp; JavaScript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00075" y="2618184"/>
            <a:ext cx="36576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빠른 빌드 환경 구축 및 표준 스크립트 기반 개발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00075" y="2878931"/>
            <a:ext cx="3657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Data Visualization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00075" y="3087886"/>
            <a:ext cx="36576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CCTV 스트리밍 및 단속 데이터 시각화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714875" y="1432322"/>
            <a:ext cx="4000500" cy="321111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5" y="1621631"/>
            <a:ext cx="171450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64931" y="1603772"/>
            <a:ext cx="80903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Back-end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886325" y="1939528"/>
            <a:ext cx="3657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Java 17 &amp; Spring Boot 3.x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886325" y="2148483"/>
            <a:ext cx="36576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안정적인 서버 환경 구축 및 RESTful API 제공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4886325" y="2409230"/>
            <a:ext cx="3657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MyBatis (XML Mapping)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886325" y="2618184"/>
            <a:ext cx="36576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XML 기반 SQL 매핑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통한 정밀한 쿼리 제어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4886325" y="2878931"/>
            <a:ext cx="3657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86325" y="3087886"/>
            <a:ext cx="36576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HttpSession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기반 세션 관리 및 </a:t>
            </a:r>
            <a:r>
              <a:rPr lang="en-US" sz="75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LoginInterceptor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구현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4886325" y="3348633"/>
            <a:ext cx="3657600" cy="292894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763" y="3432572"/>
            <a:ext cx="100013" cy="10001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29213" y="3423642"/>
            <a:ext cx="278784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Security 미사용, 커스텀 인터셉터 기반 보안 체계 구축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0" y="4643438"/>
            <a:ext cx="9144000" cy="500063"/>
          </a:xfrm>
          <a:prstGeom prst="rect">
            <a:avLst/>
          </a:prstGeom>
          <a:noFill/>
          <a:ln/>
        </p:spPr>
        <p:txBody>
          <a:bodyPr wrap="square" lIns="680339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Tech Stack: Frontend &amp; Backend Implementation Details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기술 스택: AI Vision &amp; Data Infrastructure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48395"/>
            <a:ext cx="157163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4388" y="1432322"/>
            <a:ext cx="69651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Vision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71500" y="1835944"/>
            <a:ext cx="3857625" cy="619720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10000"/>
              </a:srgbClr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2038648"/>
            <a:ext cx="285750" cy="2000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78719" y="1978819"/>
            <a:ext cx="15716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YOLO Nano &amp; ByteTrack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78719" y="2162770"/>
            <a:ext cx="15716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차량 감지 및 다중 객체 추적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571500" y="2584252"/>
            <a:ext cx="3857625" cy="619720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1000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2786955"/>
            <a:ext cx="285750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78719" y="2727127"/>
            <a:ext cx="167163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PaddleOCR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78719" y="2911078"/>
            <a:ext cx="167163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번호판 영역 문자 인식 및 앙상블 검증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571500" y="3332559"/>
            <a:ext cx="3857625" cy="619720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10000"/>
              </a:srgbClr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3535263"/>
            <a:ext cx="285750" cy="2000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78719" y="3475434"/>
            <a:ext cx="14144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OpenCV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178719" y="3659386"/>
            <a:ext cx="141446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영상 전처리 및 호모그래피 변환</a:t>
            </a:r>
            <a:endParaRPr lang="en-US" sz="7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448395"/>
            <a:ext cx="137517" cy="15716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938117" y="1432322"/>
            <a:ext cx="14859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Data Infrastructure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4714875" y="1835944"/>
            <a:ext cx="3857625" cy="619720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10000"/>
              </a:srgbClr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2038648"/>
            <a:ext cx="285750" cy="20002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22094" y="1978819"/>
            <a:ext cx="18430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5322094" y="2162770"/>
            <a:ext cx="184308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관계형 데이터베이스 및 통합 데이터 관리</a:t>
            </a:r>
            <a:endParaRPr lang="en-US" sz="750" dirty="0"/>
          </a:p>
        </p:txBody>
      </p:sp>
      <p:sp>
        <p:nvSpPr>
          <p:cNvPr id="25" name="Shape 16"/>
          <p:cNvSpPr/>
          <p:nvPr/>
        </p:nvSpPr>
        <p:spPr>
          <a:xfrm>
            <a:off x="4714875" y="2584252"/>
            <a:ext cx="3857625" cy="619720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10000"/>
              </a:srgbClr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2786955"/>
            <a:ext cx="285750" cy="20002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22094" y="2727127"/>
            <a:ext cx="17002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XGBoost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5322094" y="2911078"/>
            <a:ext cx="17002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설비 잔여 수명 예측 및 고장 유형 분류</a:t>
            </a:r>
            <a:endParaRPr lang="en-US" sz="750" dirty="0"/>
          </a:p>
        </p:txBody>
      </p:sp>
      <p:sp>
        <p:nvSpPr>
          <p:cNvPr id="29" name="Shape 19"/>
          <p:cNvSpPr/>
          <p:nvPr/>
        </p:nvSpPr>
        <p:spPr>
          <a:xfrm>
            <a:off x="4714875" y="3332559"/>
            <a:ext cx="3857625" cy="619720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10000"/>
              </a:srgbClr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3469" y="3535263"/>
            <a:ext cx="285750" cy="20002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322094" y="3475434"/>
            <a:ext cx="15394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Python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5322094" y="3659386"/>
            <a:ext cx="153947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분석 및 AI 파이프라인 구현</a:t>
            </a:r>
            <a:endParaRPr lang="en-US" sz="750" dirty="0"/>
          </a:p>
        </p:txBody>
      </p:sp>
      <p:sp>
        <p:nvSpPr>
          <p:cNvPr id="33" name="Text 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Tech Stack: AI Vision &amp; Data Infrastructure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데이터베이스 설계: 14개 테이블 허브 구조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71500" y="1543050"/>
            <a:ext cx="1472701" cy="85010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28775"/>
            <a:ext cx="160734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6534" y="1607344"/>
            <a:ext cx="542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인증 영역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28650" y="1835944"/>
            <a:ext cx="135840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 (Users)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628650" y="2000250"/>
            <a:ext cx="135840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권한 (Roles)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628650" y="2164556"/>
            <a:ext cx="135840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 이력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2129926" y="1543050"/>
            <a:ext cx="1767241" cy="85010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076" y="1628775"/>
            <a:ext cx="160734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04960" y="1607344"/>
            <a:ext cx="9572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인프라 관리 영역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2187076" y="1835944"/>
            <a:ext cx="165294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교차로 (Intersection)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2187076" y="2000250"/>
            <a:ext cx="165294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설비 (Equipment)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2187076" y="2164556"/>
            <a:ext cx="165294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 채널 정보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3982892" y="1375172"/>
            <a:ext cx="1472729" cy="1185863"/>
          </a:xfrm>
          <a:prstGeom prst="rect">
            <a:avLst/>
          </a:prstGeom>
          <a:solidFill>
            <a:srgbClr val="38BDF8">
              <a:alpha val="8000"/>
            </a:srgbClr>
          </a:solidFill>
          <a:ln w="18288">
            <a:solidFill>
              <a:srgbClr val="38BDF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739" y="1460897"/>
            <a:ext cx="275034" cy="3143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204013" y="1846659"/>
            <a:ext cx="103048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교차로 (Hub)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126325" y="2114550"/>
            <a:ext cx="11858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데이터의 중심 연결점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4152221" y="2321719"/>
            <a:ext cx="113407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총 14개 테이블 유기적 연동</a:t>
            </a:r>
            <a:endParaRPr lang="en-US" sz="650" dirty="0"/>
          </a:p>
        </p:txBody>
      </p:sp>
      <p:sp>
        <p:nvSpPr>
          <p:cNvPr id="22" name="Shape 16"/>
          <p:cNvSpPr/>
          <p:nvPr/>
        </p:nvSpPr>
        <p:spPr>
          <a:xfrm>
            <a:off x="5541345" y="1528763"/>
            <a:ext cx="1472701" cy="85010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8495" y="1614488"/>
            <a:ext cx="128588" cy="128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784233" y="1593056"/>
            <a:ext cx="11019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단속·예지보전 영역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5598495" y="1821656"/>
            <a:ext cx="135840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위반 기록 (Violation)</a:t>
            </a:r>
            <a:endParaRPr lang="en-US" sz="750" dirty="0"/>
          </a:p>
        </p:txBody>
      </p:sp>
      <p:sp>
        <p:nvSpPr>
          <p:cNvPr id="26" name="Text 19"/>
          <p:cNvSpPr/>
          <p:nvPr/>
        </p:nvSpPr>
        <p:spPr>
          <a:xfrm>
            <a:off x="5598495" y="1985963"/>
            <a:ext cx="135840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설비 상태 로그</a:t>
            </a:r>
            <a:endParaRPr lang="en-US" sz="750" dirty="0"/>
          </a:p>
        </p:txBody>
      </p:sp>
      <p:sp>
        <p:nvSpPr>
          <p:cNvPr id="27" name="Text 20"/>
          <p:cNvSpPr/>
          <p:nvPr/>
        </p:nvSpPr>
        <p:spPr>
          <a:xfrm>
            <a:off x="5598495" y="2150269"/>
            <a:ext cx="135840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수명 예측 결과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7099771" y="1528763"/>
            <a:ext cx="1472729" cy="85010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6921" y="1614488"/>
            <a:ext cx="160734" cy="1285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374806" y="1593056"/>
            <a:ext cx="9572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교통 데이터 영역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7156921" y="1821656"/>
            <a:ext cx="13584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교통량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7156921" y="1985963"/>
            <a:ext cx="13584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시간대별 통계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7156921" y="2150269"/>
            <a:ext cx="13584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차량 분류 데이터</a:t>
            </a:r>
            <a:endParaRPr lang="en-US" sz="750" dirty="0"/>
          </a:p>
        </p:txBody>
      </p:sp>
      <p:sp>
        <p:nvSpPr>
          <p:cNvPr id="34" name="Shape 26"/>
          <p:cNvSpPr/>
          <p:nvPr/>
        </p:nvSpPr>
        <p:spPr>
          <a:xfrm>
            <a:off x="471488" y="2589609"/>
            <a:ext cx="8201025" cy="480027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35" name="Shape 27"/>
          <p:cNvSpPr/>
          <p:nvPr/>
        </p:nvSpPr>
        <p:spPr>
          <a:xfrm>
            <a:off x="471488" y="2589609"/>
            <a:ext cx="28575" cy="48002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6" name="Text 28"/>
          <p:cNvSpPr/>
          <p:nvPr/>
        </p:nvSpPr>
        <p:spPr>
          <a:xfrm>
            <a:off x="571500" y="2646759"/>
            <a:ext cx="8001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확장성을 고려한 설계: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초기 설계 단계부터 </a:t>
            </a: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위반 유형(Type) 항목을 선제적으로 반영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하여, 기존 구조 수정 없이 AI 서버의 감지 로직 추가만으로 실선 침범 등 신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규 기능 확장이 가능하도록 구축했습니다.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0" y="4829175"/>
            <a:ext cx="9144000" cy="314325"/>
          </a:xfrm>
          <a:prstGeom prst="rect">
            <a:avLst/>
          </a:prstGeom>
          <a:noFill/>
          <a:ln/>
        </p:spPr>
        <p:txBody>
          <a:bodyPr wrap="square" lIns="680339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Database Design: 14-Table Hub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시연: 인증 시스템 및 통합 대시보드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71500" y="1418034"/>
            <a:ext cx="3786188" cy="315396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60029"/>
            <a:ext cx="19645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7991" y="1632347"/>
            <a:ext cx="1516261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세션 기반 인증 시스템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052042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1556" y="2023467"/>
            <a:ext cx="31218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HttpSession 관리: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서버 측 세션을 통한 안정적인 사용자 상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태 유지</a:t>
            </a:r>
            <a:endParaRPr lang="en-US" sz="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560644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1556" y="2532069"/>
            <a:ext cx="31218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LoginInterceptor: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모든 요청에 대해 세션 유효성을 검증하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 비인가 접근 차단</a:t>
            </a:r>
            <a:endParaRPr lang="en-US" sz="800" dirty="0"/>
          </a:p>
        </p:txBody>
      </p:sp>
      <p:sp>
        <p:nvSpPr>
          <p:cNvPr id="12" name="Shape 6"/>
          <p:cNvSpPr/>
          <p:nvPr/>
        </p:nvSpPr>
        <p:spPr>
          <a:xfrm>
            <a:off x="785813" y="3271838"/>
            <a:ext cx="3357563" cy="1085850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30000"/>
              </a:srgbClr>
            </a:solidFill>
            <a:prstDash val="dash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0294" y="3604022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14475" y="3904059"/>
            <a:ext cx="190023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[시연 동작: 로그인 화면 및 세션 검증 로직]</a:t>
            </a:r>
            <a:endParaRPr lang="en-US" sz="750" dirty="0"/>
          </a:p>
        </p:txBody>
      </p:sp>
      <p:sp>
        <p:nvSpPr>
          <p:cNvPr id="15" name="Shape 8"/>
          <p:cNvSpPr/>
          <p:nvPr/>
        </p:nvSpPr>
        <p:spPr>
          <a:xfrm>
            <a:off x="4786313" y="1418034"/>
            <a:ext cx="3786188" cy="315396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1660029"/>
            <a:ext cx="176808" cy="15716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63158" y="1632347"/>
            <a:ext cx="132516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통합 관제 대시보드</a:t>
            </a:r>
            <a:endParaRPr lang="en-US" sz="11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2052042"/>
            <a:ext cx="96441" cy="12858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04222" y="2023467"/>
            <a:ext cx="315396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12개 교차로 마킹: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강화도 국도 48호선 주요 거점의 실시간 위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치 시각화</a:t>
            </a:r>
            <a:endParaRPr lang="en-US" sz="8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2560644"/>
            <a:ext cx="80367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88148" y="2532069"/>
            <a:ext cx="317003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상태 기반 색상 코드: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정상(초록), 주의(노랑), 위험(빨강)으로 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직관적 상태 파악</a:t>
            </a:r>
            <a:endParaRPr lang="en-US" sz="800" dirty="0"/>
          </a:p>
        </p:txBody>
      </p:sp>
      <p:sp>
        <p:nvSpPr>
          <p:cNvPr id="22" name="Shape 12"/>
          <p:cNvSpPr/>
          <p:nvPr/>
        </p:nvSpPr>
        <p:spPr>
          <a:xfrm>
            <a:off x="5000625" y="3271838"/>
            <a:ext cx="3357563" cy="1085850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30000"/>
              </a:srgbClr>
            </a:solidFill>
            <a:prstDash val="dash"/>
          </a:ln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5106" y="3604022"/>
            <a:ext cx="228600" cy="2286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628382" y="3904059"/>
            <a:ext cx="210204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[시연 동작: 강화도 12개 교차로 통합 지도 화면]</a:t>
            </a:r>
            <a:endParaRPr lang="en-US" sz="750" dirty="0"/>
          </a:p>
        </p:txBody>
      </p:sp>
      <p:sp>
        <p:nvSpPr>
          <p:cNvPr id="25" name="Text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Demo: Authentication &amp; Integrated Dashboard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12채널 실시간 모니터링 최적화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71500" y="1360884"/>
            <a:ext cx="8001000" cy="45720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60884"/>
            <a:ext cx="28575" cy="457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519833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5838" y="1507331"/>
            <a:ext cx="5875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핵심 이슈: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573411" y="1507331"/>
            <a:ext cx="441126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12채널 동시 영상 환경에서 AI 연산과 영상 출력이 자원을 경쟁하며 발생하는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984677" y="1507331"/>
            <a:ext cx="8286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화면 멈춤 현상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82241" y="2032397"/>
            <a:ext cx="1443038" cy="1123355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2246709"/>
            <a:ext cx="321469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9384" y="2639616"/>
            <a:ext cx="14287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CCTV Source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89384" y="2812852"/>
            <a:ext cx="14287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강화도 12채널 RTSP</a:t>
            </a:r>
            <a:endParaRPr lang="en-US" sz="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503884" y="2201168"/>
            <a:ext cx="107156" cy="17145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2503884" y="2801243"/>
            <a:ext cx="107156" cy="17145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896791" y="2269034"/>
            <a:ext cx="2586038" cy="635794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6809" y="2501205"/>
            <a:ext cx="192881" cy="1714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382566" y="2419052"/>
            <a:ext cx="1430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영상 출력 흐름 (Display)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3382566" y="2619077"/>
            <a:ext cx="143053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관제 담당자용 실시간 모니터링</a:t>
            </a:r>
            <a:endParaRPr lang="en-US" sz="750" dirty="0"/>
          </a:p>
        </p:txBody>
      </p:sp>
      <p:sp>
        <p:nvSpPr>
          <p:cNvPr id="21" name="Shape 13"/>
          <p:cNvSpPr/>
          <p:nvPr/>
        </p:nvSpPr>
        <p:spPr>
          <a:xfrm>
            <a:off x="5761434" y="2269034"/>
            <a:ext cx="2586038" cy="635794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1453" y="2501205"/>
            <a:ext cx="171450" cy="17145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225778" y="2419052"/>
            <a:ext cx="14466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추론 흐름 (Inference)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6225778" y="2619077"/>
            <a:ext cx="144660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위반 감지 및 데이터 분석 전담</a:t>
            </a:r>
            <a:endParaRPr lang="en-US" sz="750" dirty="0"/>
          </a:p>
        </p:txBody>
      </p:sp>
      <p:sp>
        <p:nvSpPr>
          <p:cNvPr id="25" name="Shape 16"/>
          <p:cNvSpPr/>
          <p:nvPr/>
        </p:nvSpPr>
        <p:spPr>
          <a:xfrm>
            <a:off x="571500" y="3355777"/>
            <a:ext cx="8001000" cy="464344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26" name="Shape 17"/>
          <p:cNvSpPr/>
          <p:nvPr/>
        </p:nvSpPr>
        <p:spPr>
          <a:xfrm>
            <a:off x="571500" y="3355777"/>
            <a:ext cx="8001000" cy="7144"/>
          </a:xfrm>
          <a:prstGeom prst="rect">
            <a:avLst/>
          </a:prstGeom>
          <a:solidFill>
            <a:srgbClr val="D7F2FE"/>
          </a:solidFill>
          <a:ln/>
        </p:spPr>
      </p:sp>
      <p:sp>
        <p:nvSpPr>
          <p:cNvPr id="27" name="Text 18"/>
          <p:cNvSpPr/>
          <p:nvPr/>
        </p:nvSpPr>
        <p:spPr>
          <a:xfrm>
            <a:off x="571500" y="3355777"/>
            <a:ext cx="8001000" cy="464344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물리적 이중 처리 흐름 설계를 통해 AI 부하와 무관한 24시간 무중단 관제 환경 구현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Demo: 12-Channel Real-time Monitoring Optimization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기반 무인 과속 단속 파이프라인 (1)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71500" y="1432322"/>
            <a:ext cx="2552691" cy="1284089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63588" y="1332309"/>
            <a:ext cx="558998" cy="162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4"/>
          <p:cNvSpPr/>
          <p:nvPr/>
        </p:nvSpPr>
        <p:spPr>
          <a:xfrm>
            <a:off x="1563588" y="1332309"/>
            <a:ext cx="558998" cy="16252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spc="1" kern="0" dirty="0">
                <a:solidFill>
                  <a:srgbClr val="02061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STEP 01</a:t>
            </a:r>
            <a:endParaRPr lang="en-US" sz="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582341"/>
            <a:ext cx="257175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4375" y="1953816"/>
            <a:ext cx="225742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차량 감지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14375" y="2223492"/>
            <a:ext cx="2257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94A3B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YOLO Nano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모델 활용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다중 차량 인식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3286125" y="1432322"/>
            <a:ext cx="2557463" cy="1284089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76427" y="1332309"/>
            <a:ext cx="576858" cy="162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9"/>
          <p:cNvSpPr/>
          <p:nvPr/>
        </p:nvSpPr>
        <p:spPr>
          <a:xfrm>
            <a:off x="4276427" y="1332309"/>
            <a:ext cx="576858" cy="16252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spc="1" kern="0" dirty="0">
                <a:solidFill>
                  <a:srgbClr val="02061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STEP 02</a:t>
            </a:r>
            <a:endParaRPr lang="en-US" sz="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269" y="1582341"/>
            <a:ext cx="257175" cy="2571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33772" y="1953816"/>
            <a:ext cx="2262197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객체 추적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433772" y="2223492"/>
            <a:ext cx="22621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94A3B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ByteTrack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알고리즘 적용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차량별 고유 ID 부여 및 궤적 추적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6010294" y="1432322"/>
            <a:ext cx="2562234" cy="1284089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006791" y="1325166"/>
            <a:ext cx="578644" cy="162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4"/>
          <p:cNvSpPr/>
          <p:nvPr/>
        </p:nvSpPr>
        <p:spPr>
          <a:xfrm>
            <a:off x="7006791" y="1325166"/>
            <a:ext cx="578644" cy="16252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spc="1" kern="0" dirty="0">
                <a:solidFill>
                  <a:srgbClr val="02061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STEP 03</a:t>
            </a:r>
            <a:endParaRPr lang="en-US" sz="6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452" y="1575197"/>
            <a:ext cx="289322" cy="2571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62656" y="1946672"/>
            <a:ext cx="2266941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속도 산출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162656" y="2216348"/>
            <a:ext cx="22669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94A3B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Homography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변환 적용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픽셀 좌표를 실제 거리로 환산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571500" y="2916436"/>
            <a:ext cx="8001000" cy="1095840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571500" y="2916436"/>
            <a:ext cx="28575" cy="10958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084314"/>
            <a:ext cx="142875" cy="1428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1550" y="3059311"/>
            <a:ext cx="235029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핵심 기술: 원근 변환 (Homography)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42950" y="3366492"/>
            <a:ext cx="7658100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 영상의 왜곡된 원근감을 보정하기 위해 </a:t>
            </a:r>
            <a:r>
              <a:rPr lang="en-US" sz="8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호모그래피(Homography) 행렬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적용합니다. 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영상 내의 픽셀 이동 거리를 실제 도로상의 미터(m) 단위로 정밀하게 변환하여, </a:t>
            </a:r>
            <a:r>
              <a:rPr lang="en-US" sz="8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시간당 이동 거리(km/h)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정확하게 산출합니다.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AI Enforcement Pipeline: Detection, Tracking &amp; Speed Calculation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기반 무인 과속 단속 파이프라인 (2)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50181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1435894"/>
            <a:ext cx="21859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4단계 OCR 재시도 구조 (v4 기준)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71500" y="1803797"/>
            <a:ext cx="4169327" cy="56435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14375" y="1982391"/>
            <a:ext cx="271463" cy="192881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4375" y="1982391"/>
            <a:ext cx="271463" cy="192881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1114425" y="1910953"/>
            <a:ext cx="18127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원본 이미지 직접 인식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4425" y="2110978"/>
            <a:ext cx="181272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무보정 상태의 원본 데이터 1차 판독 시도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571500" y="2461022"/>
            <a:ext cx="4169327" cy="56435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4375" y="2639616"/>
            <a:ext cx="291108" cy="192881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14375" y="2639616"/>
            <a:ext cx="291108" cy="192881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1134070" y="2568178"/>
            <a:ext cx="16430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명암 적응 보정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4070" y="2768203"/>
            <a:ext cx="164306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조도 변화에 따른 이미지 명암 최적화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571500" y="3118247"/>
            <a:ext cx="4169327" cy="56435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4375" y="3296841"/>
            <a:ext cx="292894" cy="192881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4375" y="3296841"/>
            <a:ext cx="292894" cy="192881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1135856" y="3225403"/>
            <a:ext cx="18716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이진화 대비 강화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5856" y="3425428"/>
            <a:ext cx="187166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흑백 대비 극대화를 통한 문자 윤곽 명확화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571500" y="3775472"/>
            <a:ext cx="4169327" cy="56435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14375" y="3954066"/>
            <a:ext cx="296466" cy="192881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14375" y="3954066"/>
            <a:ext cx="296466" cy="192881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04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1139428" y="3882628"/>
            <a:ext cx="23002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색상 분석 기반 윤곽 탐지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39428" y="4082653"/>
            <a:ext cx="230028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번호판 특유의 색상 패턴을 활용한 최종 특징점 추출</a:t>
            </a:r>
            <a:endParaRPr lang="en-US" sz="7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014" y="1450181"/>
            <a:ext cx="142875" cy="14287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40889" y="1435894"/>
            <a:ext cx="12394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실시간 데이터 전송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098014" y="1910953"/>
            <a:ext cx="3474458" cy="1855589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/>
            </a:solidFill>
            <a:prstDash val="dash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917" y="2125266"/>
            <a:ext cx="428625" cy="3429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12327" y="2611041"/>
            <a:ext cx="304583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Webhook 기반 데이터 연동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312327" y="2930723"/>
            <a:ext cx="30458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위반 확정 시 AI 서버에서 백엔드로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b="1" dirty="0">
                <a:solidFill>
                  <a:srgbClr val="94A3B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JSON 형태의 단속 데이터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즉시 전송합니다.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5312327" y="3416498"/>
            <a:ext cx="51613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SERVER</a:t>
            </a:r>
            <a:endParaRPr lang="en-US" sz="7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7717" y="3427214"/>
            <a:ext cx="100013" cy="10001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586984" y="3416498"/>
            <a:ext cx="48756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BACKEND</a:t>
            </a:r>
            <a:endParaRPr lang="en-US" sz="7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3799" y="3427214"/>
            <a:ext cx="100013" cy="10001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833066" y="3416498"/>
            <a:ext cx="5250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DATABASE</a:t>
            </a:r>
            <a:endParaRPr lang="en-US" sz="700" dirty="0"/>
          </a:p>
        </p:txBody>
      </p:sp>
      <p:sp>
        <p:nvSpPr>
          <p:cNvPr id="38" name="Text 30"/>
          <p:cNvSpPr/>
          <p:nvPr/>
        </p:nvSpPr>
        <p:spPr>
          <a:xfrm>
            <a:off x="5098014" y="3966567"/>
            <a:ext cx="3474458" cy="231446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단속 이미지, 번호판, 속도, 위치 정보를 포함한 통합 패키지 전송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AI Enforcement Pipeline: OCR &amp; Data Transmission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810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시연: 실선 침범 단속 로직 (AI Vision)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71500" y="1432322"/>
            <a:ext cx="3857625" cy="3222836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74316"/>
            <a:ext cx="137517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9055" y="1646634"/>
            <a:ext cx="131445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ROI 기반 감지 원리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030611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1556" y="2002036"/>
            <a:ext cx="31932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관심 영역(ROI) 설정: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교차로 내 단속이 필요한 실선 구간을 가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 영역으로 지정</a:t>
            </a:r>
            <a:endParaRPr lang="en-US" sz="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503494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1556" y="2474919"/>
            <a:ext cx="31932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궤적 분석: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차량의 이동 경로가 설정된 실선 ROI를 관통할 경우 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위반으로 판독</a:t>
            </a:r>
            <a:endParaRPr lang="en-US" sz="800" dirty="0"/>
          </a:p>
        </p:txBody>
      </p:sp>
      <p:sp>
        <p:nvSpPr>
          <p:cNvPr id="12" name="Shape 6"/>
          <p:cNvSpPr/>
          <p:nvPr/>
        </p:nvSpPr>
        <p:spPr>
          <a:xfrm>
            <a:off x="785813" y="2983520"/>
            <a:ext cx="3429000" cy="1443038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30000"/>
              </a:srgbClr>
            </a:solidFill>
            <a:prstDash val="dash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578" y="3433576"/>
            <a:ext cx="321469" cy="285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00188" y="3826483"/>
            <a:ext cx="20002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[시연 동작: 실선 침범 감지 및 캡처 프로세스]</a:t>
            </a:r>
            <a:endParaRPr lang="en-US" sz="750" dirty="0"/>
          </a:p>
        </p:txBody>
      </p:sp>
      <p:sp>
        <p:nvSpPr>
          <p:cNvPr id="15" name="Shape 8"/>
          <p:cNvSpPr/>
          <p:nvPr/>
        </p:nvSpPr>
        <p:spPr>
          <a:xfrm>
            <a:off x="4714875" y="1432322"/>
            <a:ext cx="3857625" cy="3194261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674316"/>
            <a:ext cx="157163" cy="15716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72075" y="1646634"/>
            <a:ext cx="976908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기술적 차별점</a:t>
            </a:r>
            <a:endParaRPr lang="en-US" sz="11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030611"/>
            <a:ext cx="128588" cy="12858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64931" y="2002036"/>
            <a:ext cx="31932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파이프라인 파생 기능: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과속 단속을 위해 구축된 감지·추적 엔진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그대로 활용하여 효율성 극대화</a:t>
            </a:r>
            <a:endParaRPr lang="en-US" sz="8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503494"/>
            <a:ext cx="112514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48858" y="2474919"/>
            <a:ext cx="320933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정밀 좌표 매핑: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호모그래피 변환을 통해 영상 왜곡을 보정하고 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실선 위치를 정확히 특정</a:t>
            </a:r>
            <a:endParaRPr lang="en-US" sz="800" dirty="0"/>
          </a:p>
        </p:txBody>
      </p:sp>
      <p:sp>
        <p:nvSpPr>
          <p:cNvPr id="22" name="Shape 12"/>
          <p:cNvSpPr/>
          <p:nvPr/>
        </p:nvSpPr>
        <p:spPr>
          <a:xfrm>
            <a:off x="571500" y="4912333"/>
            <a:ext cx="8001000" cy="468613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23" name="Shape 13"/>
          <p:cNvSpPr/>
          <p:nvPr/>
        </p:nvSpPr>
        <p:spPr>
          <a:xfrm>
            <a:off x="571500" y="4912333"/>
            <a:ext cx="28575" cy="468613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14"/>
          <p:cNvSpPr/>
          <p:nvPr/>
        </p:nvSpPr>
        <p:spPr>
          <a:xfrm>
            <a:off x="571500" y="4912333"/>
            <a:ext cx="8001000" cy="468613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CBD5E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확장성: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별도의 추가 장비 없이 소프트웨어 로직 업데이트만으로 불법 유턴, 역주행 등 다양한 위반 유형으로 단속 범위 확장이 가능합니다.</a:t>
            </a:r>
            <a:endParaRPr lang="en-US" sz="850" dirty="0"/>
          </a:p>
        </p:txBody>
      </p:sp>
      <p:sp>
        <p:nvSpPr>
          <p:cNvPr id="25" name="Text 15"/>
          <p:cNvSpPr/>
          <p:nvPr/>
        </p:nvSpPr>
        <p:spPr>
          <a:xfrm>
            <a:off x="0" y="5380946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Demo: Lane Violation Detection Logic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시연: 설비 예지보전 시스템 (ML)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50181"/>
            <a:ext cx="16073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2234" y="1435894"/>
            <a:ext cx="16841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3대 핵심 센서 데이터 수집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71500" y="1839516"/>
            <a:ext cx="3474458" cy="728663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14375" y="1982391"/>
            <a:ext cx="428625" cy="42862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09" y="2110978"/>
            <a:ext cx="107156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5875" y="2032397"/>
            <a:ext cx="133945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온도 (Temperature)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285875" y="2225278"/>
            <a:ext cx="133945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과부하 및 이상 발열 감지</a:t>
            </a:r>
            <a:endParaRPr lang="en-US" sz="750" dirty="0"/>
          </a:p>
        </p:txBody>
      </p:sp>
      <p:sp>
        <p:nvSpPr>
          <p:cNvPr id="12" name="Shape 7"/>
          <p:cNvSpPr/>
          <p:nvPr/>
        </p:nvSpPr>
        <p:spPr>
          <a:xfrm>
            <a:off x="571500" y="2696766"/>
            <a:ext cx="3474458" cy="728663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14375" y="2839641"/>
            <a:ext cx="428625" cy="42862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2968228"/>
            <a:ext cx="214313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5875" y="2889647"/>
            <a:ext cx="1214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진동 (Vibration)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285875" y="3082528"/>
            <a:ext cx="1214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기계적 마모 및 불균형 분석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571500" y="3554016"/>
            <a:ext cx="3474458" cy="728663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14375" y="3696891"/>
            <a:ext cx="428625" cy="42862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394" y="3825478"/>
            <a:ext cx="128588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5875" y="3746897"/>
            <a:ext cx="13144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전류 (Current)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285875" y="3939778"/>
            <a:ext cx="13144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전기적 부하 및 효율 모니터링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4403145" y="1432322"/>
            <a:ext cx="4169355" cy="313967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458" y="1674316"/>
            <a:ext cx="157163" cy="15716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860345" y="1646634"/>
            <a:ext cx="171985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XGBoost 기반 수명 예측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617458" y="2037755"/>
            <a:ext cx="228600" cy="2286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6" name="Text 18"/>
          <p:cNvSpPr/>
          <p:nvPr/>
        </p:nvSpPr>
        <p:spPr>
          <a:xfrm>
            <a:off x="4617458" y="203775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061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Text 19"/>
          <p:cNvSpPr/>
          <p:nvPr/>
        </p:nvSpPr>
        <p:spPr>
          <a:xfrm>
            <a:off x="4988933" y="2037755"/>
            <a:ext cx="2628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데이터 전처리 및 특징 추출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988933" y="2244923"/>
            <a:ext cx="2628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센서 데이터의 노이즈 제거 및 유의미한 패턴(Feature) 추출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4724614" y="2287786"/>
            <a:ext cx="14288" cy="21431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30" name="Shape 22"/>
          <p:cNvSpPr/>
          <p:nvPr/>
        </p:nvSpPr>
        <p:spPr>
          <a:xfrm>
            <a:off x="4617458" y="2573536"/>
            <a:ext cx="228600" cy="2286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1" name="Text 23"/>
          <p:cNvSpPr/>
          <p:nvPr/>
        </p:nvSpPr>
        <p:spPr>
          <a:xfrm>
            <a:off x="4617458" y="257353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061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</a:t>
            </a:r>
            <a:endParaRPr lang="en-US" sz="700" dirty="0"/>
          </a:p>
        </p:txBody>
      </p:sp>
      <p:sp>
        <p:nvSpPr>
          <p:cNvPr id="32" name="Text 24"/>
          <p:cNvSpPr/>
          <p:nvPr/>
        </p:nvSpPr>
        <p:spPr>
          <a:xfrm>
            <a:off x="4988933" y="2573536"/>
            <a:ext cx="2600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XGBoost 모델 학습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4988933" y="2780705"/>
            <a:ext cx="26003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고성능 그래디언트 부스팅 알고리즘을 통한 고장 패턴 학습</a:t>
            </a:r>
            <a:endParaRPr lang="en-US" sz="750" dirty="0"/>
          </a:p>
        </p:txBody>
      </p:sp>
      <p:sp>
        <p:nvSpPr>
          <p:cNvPr id="34" name="Shape 26"/>
          <p:cNvSpPr/>
          <p:nvPr/>
        </p:nvSpPr>
        <p:spPr>
          <a:xfrm>
            <a:off x="4724614" y="2823567"/>
            <a:ext cx="14288" cy="21431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35" name="Shape 27"/>
          <p:cNvSpPr/>
          <p:nvPr/>
        </p:nvSpPr>
        <p:spPr>
          <a:xfrm>
            <a:off x="4617458" y="3109317"/>
            <a:ext cx="228600" cy="2286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6" name="Text 28"/>
          <p:cNvSpPr/>
          <p:nvPr/>
        </p:nvSpPr>
        <p:spPr>
          <a:xfrm>
            <a:off x="4617458" y="310931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061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4988933" y="3109317"/>
            <a:ext cx="25574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잔여 수명(RUL) 예측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4988933" y="3316486"/>
            <a:ext cx="2557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상태를 기반으로 설비의 예상 고장 시점 및 수명 산출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4724614" y="3359348"/>
            <a:ext cx="14288" cy="21431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40" name="Shape 32"/>
          <p:cNvSpPr/>
          <p:nvPr/>
        </p:nvSpPr>
        <p:spPr>
          <a:xfrm>
            <a:off x="4617458" y="3993356"/>
            <a:ext cx="3740730" cy="364331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4617458" y="3993356"/>
            <a:ext cx="3740730" cy="3643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[시연 동작: 설비별 수명 예측 대시보드 및 알림 프로세스]</a:t>
            </a:r>
            <a:endParaRPr lang="en-US" sz="750" dirty="0"/>
          </a:p>
        </p:txBody>
      </p:sp>
      <p:sp>
        <p:nvSpPr>
          <p:cNvPr id="42" name="Text 3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Demo: Predictive Maintenance System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개발 이슈 및 해결 과정 (1)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71500" y="1432322"/>
            <a:ext cx="3857625" cy="313967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71638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4413" y="1646634"/>
            <a:ext cx="152519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번호판 인식 해상도 한계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85813" y="2018109"/>
            <a:ext cx="3429000" cy="662583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785813" y="2018109"/>
            <a:ext cx="28575" cy="662583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928688" y="2125266"/>
            <a:ext cx="31432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ISSUE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28688" y="2337792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저해상도 CCTV 환경 및 야간/우천 시 번호판 문자 윤곽이 흐려져 인식률이 급격히 저하되는 현상 발생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785813" y="2859286"/>
            <a:ext cx="3429000" cy="1005483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785813" y="2859286"/>
            <a:ext cx="28575" cy="1005483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0"/>
          <p:cNvSpPr/>
          <p:nvPr/>
        </p:nvSpPr>
        <p:spPr>
          <a:xfrm>
            <a:off x="928688" y="2966442"/>
            <a:ext cx="31432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SOLUTION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28688" y="3178969"/>
            <a:ext cx="3143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단일 추론 방식에서 탈피하여 </a:t>
            </a:r>
            <a:r>
              <a:rPr lang="en-US" sz="75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4단계 OCR 재시도 파이프라인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구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축. 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이진화 대비 강화 및 색상 분석 기반 윤곽 탐지 전처리를 통해 인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식 가능한 최적의 상태를 자동 확보.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714875" y="1432322"/>
            <a:ext cx="3857625" cy="313967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671638"/>
            <a:ext cx="125016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39928" y="1646634"/>
            <a:ext cx="166806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예지보전 학습 데이터 부족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929188" y="2018109"/>
            <a:ext cx="3429000" cy="662583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4929188" y="2018109"/>
            <a:ext cx="28575" cy="662583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6"/>
          <p:cNvSpPr/>
          <p:nvPr/>
        </p:nvSpPr>
        <p:spPr>
          <a:xfrm>
            <a:off x="5072063" y="2125266"/>
            <a:ext cx="31432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ISSUE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072063" y="2337792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정상 작동 데이터는 풍부하나, 실제 설비 고장이나 이상 징후 데이터가 극히 희소하여 모델 학습에 불균형 발생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929188" y="2859286"/>
            <a:ext cx="3429000" cy="834033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4929188" y="2859286"/>
            <a:ext cx="28575" cy="834033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0"/>
          <p:cNvSpPr/>
          <p:nvPr/>
        </p:nvSpPr>
        <p:spPr>
          <a:xfrm>
            <a:off x="5072063" y="2966442"/>
            <a:ext cx="31432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SOLUTION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072063" y="3178969"/>
            <a:ext cx="3143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합성 데이터(Synthetic Data) 생성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기법 도입. 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정상 데이터에 물리적 고장 특성을 반영한 노이즈와 패턴을 합성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하여, 다양한 이상 시나리오에 대한 학습 데이터셋 강제 확보.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Troubleshooting: OCR Resolution &amp; Maintenance Data Scarcity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개발 이슈 및 해결 과정 (2)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71500" y="1432322"/>
            <a:ext cx="3821906" cy="313967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62708"/>
            <a:ext cx="250031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646634"/>
            <a:ext cx="166806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12채널 영상 병목 해결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068116"/>
            <a:ext cx="107156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0119" y="2057400"/>
            <a:ext cx="33039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ISSUE</a:t>
            </a:r>
            <a:endParaRPr lang="en-US" sz="700" dirty="0"/>
          </a:p>
        </p:txBody>
      </p:sp>
      <p:sp>
        <p:nvSpPr>
          <p:cNvPr id="10" name="Text 5"/>
          <p:cNvSpPr/>
          <p:nvPr/>
        </p:nvSpPr>
        <p:spPr>
          <a:xfrm>
            <a:off x="785813" y="2250281"/>
            <a:ext cx="33932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12채널 동시 송출 시 </a:t>
            </a: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연산 부하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인해 관제 화면이 멈추거나 프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레임 드롭이 발생하는 현상 확인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805317"/>
            <a:ext cx="107156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0119" y="2794602"/>
            <a:ext cx="58043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SOLUTION</a:t>
            </a:r>
            <a:endParaRPr lang="en-US" sz="700" dirty="0"/>
          </a:p>
        </p:txBody>
      </p:sp>
      <p:sp>
        <p:nvSpPr>
          <p:cNvPr id="13" name="Text 7"/>
          <p:cNvSpPr/>
          <p:nvPr/>
        </p:nvSpPr>
        <p:spPr>
          <a:xfrm>
            <a:off x="785813" y="2987483"/>
            <a:ext cx="33932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이중 처리 흐름(Dual-Stream)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설계 적용. 영상 출력 흐름과 AI 추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론 흐름을 물리적으로 분리하여 자원 경쟁 원천 차단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785813" y="4050506"/>
            <a:ext cx="3393281" cy="307181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969" y="4161234"/>
            <a:ext cx="100013" cy="100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64419" y="4150519"/>
            <a:ext cx="151983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Resource Isolation Architecture</a:t>
            </a:r>
            <a:endParaRPr lang="en-US" sz="700" dirty="0"/>
          </a:p>
        </p:txBody>
      </p:sp>
      <p:sp>
        <p:nvSpPr>
          <p:cNvPr id="17" name="Shape 10"/>
          <p:cNvSpPr/>
          <p:nvPr/>
        </p:nvSpPr>
        <p:spPr>
          <a:xfrm>
            <a:off x="4750594" y="1432322"/>
            <a:ext cx="3821906" cy="313967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4906" y="1662708"/>
            <a:ext cx="250031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22094" y="1646634"/>
            <a:ext cx="16430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CCTV 주소 만료 대응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906" y="2068116"/>
            <a:ext cx="107156" cy="10001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29213" y="2057400"/>
            <a:ext cx="33039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ISSUE</a:t>
            </a:r>
            <a:endParaRPr lang="en-US" sz="700" dirty="0"/>
          </a:p>
        </p:txBody>
      </p:sp>
      <p:sp>
        <p:nvSpPr>
          <p:cNvPr id="22" name="Text 13"/>
          <p:cNvSpPr/>
          <p:nvPr/>
        </p:nvSpPr>
        <p:spPr>
          <a:xfrm>
            <a:off x="4964906" y="2250281"/>
            <a:ext cx="33932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공공 데이터 API에서 제공하는 </a:t>
            </a: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CCTV RTSP URL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일정 시간 경과 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후 만료되어 영상이 끊기는 문제 발생</a:t>
            </a:r>
            <a:endParaRPr lang="en-US" sz="8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4906" y="2805317"/>
            <a:ext cx="107156" cy="10001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29213" y="2794602"/>
            <a:ext cx="58043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SOLUTION</a:t>
            </a:r>
            <a:endParaRPr lang="en-US" sz="700" dirty="0"/>
          </a:p>
        </p:txBody>
      </p:sp>
      <p:sp>
        <p:nvSpPr>
          <p:cNvPr id="25" name="Text 15"/>
          <p:cNvSpPr/>
          <p:nvPr/>
        </p:nvSpPr>
        <p:spPr>
          <a:xfrm>
            <a:off x="4964906" y="2987483"/>
            <a:ext cx="33932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스케줄러 기반 자동 갱신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로직 구현. 만료 전 API를 재호출하여 최신 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URL을 DB에 자동 업데이트하는 무중단 시스템 구축</a:t>
            </a:r>
            <a:endParaRPr lang="en-US" sz="850" dirty="0"/>
          </a:p>
        </p:txBody>
      </p:sp>
      <p:sp>
        <p:nvSpPr>
          <p:cNvPr id="26" name="Shape 16"/>
          <p:cNvSpPr/>
          <p:nvPr/>
        </p:nvSpPr>
        <p:spPr>
          <a:xfrm>
            <a:off x="4964906" y="4050506"/>
            <a:ext cx="3393281" cy="307181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2063" y="4161234"/>
            <a:ext cx="100013" cy="10001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243513" y="4150519"/>
            <a:ext cx="16680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Automated URL Refresh Scheduler</a:t>
            </a:r>
            <a:endParaRPr lang="en-US" sz="700" dirty="0"/>
          </a:p>
        </p:txBody>
      </p:sp>
      <p:sp>
        <p:nvSpPr>
          <p:cNvPr id="29" name="Text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Troubleshooting: Video Bottleneck &amp; URL Expiration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PART 08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41152"/>
            <a:ext cx="800100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최종 성과 및 향후 확장성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71500" y="1360884"/>
            <a:ext cx="3857625" cy="2646759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534120"/>
            <a:ext cx="192881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7288" y="1503759"/>
            <a:ext cx="110370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핵심 성과 달성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00238"/>
            <a:ext cx="157163" cy="1571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7288" y="1864519"/>
            <a:ext cx="29860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실제 인프라 연동: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강화도 국도 48호선 12개 교차로 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관제 환경 구축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440260"/>
            <a:ext cx="157163" cy="1571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7288" y="2404542"/>
            <a:ext cx="29860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지능형 단속 자동화: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기반 과속 감지 및 번호판 인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식 파이프라인 완성</a:t>
            </a:r>
            <a:endParaRPr lang="en-US" sz="9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980283"/>
            <a:ext cx="157163" cy="15716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57288" y="2944564"/>
            <a:ext cx="29860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운영 안정성 확보: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MSA 구조를 통한 독립적 서버 운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영 및 장애 대응 체계 증명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4714875" y="1360884"/>
            <a:ext cx="3857625" cy="2646759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1534120"/>
            <a:ext cx="150019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257800" y="1503759"/>
            <a:ext cx="89475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향후 확장성</a:t>
            </a:r>
            <a:endParaRPr lang="en-US" sz="12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1900238"/>
            <a:ext cx="196453" cy="157163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39953" y="1864519"/>
            <a:ext cx="294679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전국 단위 확산: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독립 서버 구조를 활용한 타 지자체 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신속 도입 및 연동</a:t>
            </a:r>
            <a:endParaRPr lang="en-US" sz="9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2440260"/>
            <a:ext cx="157163" cy="157163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300663" y="2404542"/>
            <a:ext cx="29860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기능 모듈화: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실선 침범, 불법 유턴 등 지역별 맞춤형 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단속 로직 추가 용이</a:t>
            </a:r>
            <a:endParaRPr lang="en-US" sz="9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2980283"/>
            <a:ext cx="157163" cy="157163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300663" y="2944564"/>
            <a:ext cx="29860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데이터 중심 관제: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누적된 교통 데이터를 활용한 정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밀 교통 정책 수립 지원</a:t>
            </a:r>
            <a:endParaRPr lang="en-US" sz="900" dirty="0"/>
          </a:p>
        </p:txBody>
      </p:sp>
      <p:sp>
        <p:nvSpPr>
          <p:cNvPr id="23" name="Shape 12"/>
          <p:cNvSpPr/>
          <p:nvPr/>
        </p:nvSpPr>
        <p:spPr>
          <a:xfrm>
            <a:off x="0" y="4007644"/>
            <a:ext cx="9144000" cy="564356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24" name="Shape 13"/>
          <p:cNvSpPr/>
          <p:nvPr/>
        </p:nvSpPr>
        <p:spPr>
          <a:xfrm>
            <a:off x="0" y="4007644"/>
            <a:ext cx="9144000" cy="14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14"/>
          <p:cNvSpPr/>
          <p:nvPr/>
        </p:nvSpPr>
        <p:spPr>
          <a:xfrm>
            <a:off x="0" y="4007644"/>
            <a:ext cx="9144000" cy="564356"/>
          </a:xfrm>
          <a:prstGeom prst="rect">
            <a:avLst/>
          </a:prstGeom>
          <a:noFill/>
          <a:ln/>
        </p:spPr>
        <p:txBody>
          <a:bodyPr wrap="square" lIns="255143" tIns="212598" rIns="255143" bIns="212598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인력 중심의 사후 대응을 넘어, 스스로 판단하고 대응하는 지능형 무인 시스템의 표준을 제시합니다.</a:t>
            </a:r>
            <a:endParaRPr lang="en-US" sz="1000" dirty="0"/>
          </a:p>
        </p:txBody>
      </p:sp>
      <p:sp>
        <p:nvSpPr>
          <p:cNvPr id="26" name="Text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AI-PASS | Final Results &amp; Future Scalability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71738" y="542925"/>
            <a:ext cx="4200525" cy="72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350" b="1" spc="-2" kern="0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AI-PASS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471738" y="1341239"/>
            <a:ext cx="4200525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spc="3" kern="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스스로 판단하는 지능형 무인 시스템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00125" y="2364581"/>
            <a:ext cx="2238366" cy="98583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6" y="2578894"/>
            <a:ext cx="257175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2950369"/>
            <a:ext cx="19526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12채널 실시간 관제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452803" y="2364581"/>
            <a:ext cx="2238366" cy="98583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672" y="2578894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95678" y="2950369"/>
            <a:ext cx="19526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기반 무인 단속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5905481" y="2364581"/>
            <a:ext cx="2238394" cy="985838"/>
          </a:xfrm>
          <a:prstGeom prst="rect">
            <a:avLst/>
          </a:prstGeom>
          <a:solidFill>
            <a:srgbClr val="0F172A">
              <a:alpha val="6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378" y="2586038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48356" y="2957513"/>
            <a:ext cx="19526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설비 예지보전 시스템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3479899" y="4207669"/>
            <a:ext cx="4286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PM / AI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3479899" y="4386263"/>
            <a:ext cx="428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배영환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337149" y="4207669"/>
            <a:ext cx="46970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DB / 기획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4337149" y="4400550"/>
            <a:ext cx="4697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김소연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235476" y="4207669"/>
            <a:ext cx="4286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FE / ML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5235476" y="4386263"/>
            <a:ext cx="428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하재영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3302198" y="4686300"/>
            <a:ext cx="25396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spc="2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감사합니다. 경청해 주셔서 고맙습니다.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2026-04-28T06:07:45Z</dcterms:created>
  <dcterms:modified xsi:type="dcterms:W3CDTF">2026-04-28T06:07:45Z</dcterms:modified>
</cp:coreProperties>
</file>